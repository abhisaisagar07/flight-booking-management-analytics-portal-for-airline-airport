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C137D9-A1DC-4621-B60F-EEB72EF24ED4}">
  <a:tblStyle styleId="{B5C137D9-A1DC-4621-B60F-EEB72EF24ED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457200" y="48463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Flight Booking Management &amp; Analytics Portal  |  B.Tech II Year – I Sem  |  CS&amp;IT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Flight Booking Management &amp; Analytics Portal for Airline &amp; Airport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 txBox="1"/>
          <p:nvPr/>
        </p:nvSpPr>
        <p:spPr>
          <a:xfrm>
            <a:off x="548640" y="301752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L. Sainath – 2520090148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M. Naman – 2520090194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M. Abhi Sai Sagar – 2520090173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/>
          <p:nvPr/>
        </p:nvSpPr>
        <p:spPr>
          <a:xfrm>
            <a:off x="5120640" y="2743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Under the guidance of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 txBox="1"/>
          <p:nvPr/>
        </p:nvSpPr>
        <p:spPr>
          <a:xfrm>
            <a:off x="5120640" y="301752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Dr. M. Gayatri, Associate Professor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II Year B.Tech – I Semester, CS&amp;IT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 L (Deemed to be) University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Database-driven web portal combining flight booking management with operational analytics.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Manages flights, passengers, bookings and airports in a centralized MySQL database.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search flights and create bookings; seat availability is updated automatically.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Analytics: daily bookings, route-wise bookings, seat utilization and on-time rate.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Workflow: Input → Processing → Database → Output.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Stack: HTML/CSS/JavaScript/Bootstrap, Python Flask, MySQL.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548640" y="1234440"/>
            <a:ext cx="2560320" cy="32004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548640" y="1234440"/>
            <a:ext cx="256032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 txBox="1"/>
          <p:nvPr/>
        </p:nvSpPr>
        <p:spPr>
          <a:xfrm>
            <a:off x="68580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Scattered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685800" y="19202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Flight, passenger and seat records kept separately or manually lead to repeated data entry and hard-to-track bookings.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3291840" y="1234440"/>
            <a:ext cx="2560320" cy="32004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7"/>
          <p:cNvSpPr/>
          <p:nvPr/>
        </p:nvSpPr>
        <p:spPr>
          <a:xfrm>
            <a:off x="3291840" y="1234440"/>
            <a:ext cx="2560320" cy="64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 txBox="1"/>
          <p:nvPr/>
        </p:nvSpPr>
        <p:spPr>
          <a:xfrm>
            <a:off x="342900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Inaccurate seats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 txBox="1"/>
          <p:nvPr/>
        </p:nvSpPr>
        <p:spPr>
          <a:xfrm>
            <a:off x="3429000" y="19202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Seat availability can be wrong when updates are not centralized.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6035040" y="1234440"/>
            <a:ext cx="2560320" cy="32004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6035040" y="1234440"/>
            <a:ext cx="2560320" cy="64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 txBox="1"/>
          <p:nvPr/>
        </p:nvSpPr>
        <p:spPr>
          <a:xfrm>
            <a:off x="617220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Manual analytics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6172200" y="19202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Popular routes, seat utilization and on-time performance need extra manual effort without a database.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Need: a single portal for flight search, booking management and database-backed analytics.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Passenger and flight volumes grow, so manual record handling becomes slow and error-prone.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Booking data can be stored once and reused for many operational reports.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 data reduces duplication and gives one consistent source of truth.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Combines web development, DBMS and algorithms in one practical prototype.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 for future airline and airport analytics.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 centralized flight booking management portal.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flights, passengers, bookings and airports in structured MySQL tables.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flight search and booking through a web interface.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and display seat availability.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daily bookings, route bookings, seat utilization and on-time rate.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 Flask + MySQL, and apply Dijkstra, A*, Greedy and hashing where relevant.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" name="Google Shape;81;p10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{B5C137D9-A1DC-4621-B60F-EEB72EF24ED4}</a:tableStyleId>
              </a:tblPr>
              <a:tblGrid>
                <a:gridCol w="1828800"/>
                <a:gridCol w="3200400"/>
                <a:gridCol w="3017525"/>
              </a:tblGrid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chemeClr val="lt1"/>
                          </a:solidFill>
                        </a:rPr>
                        <a:t>Area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chemeClr val="lt1"/>
                          </a:solidFill>
                        </a:rPr>
                        <a:t>Source (from references)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chemeClr val="lt1"/>
                          </a:solidFill>
                        </a:rPr>
                        <a:t>Focus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chemeClr val="dk1"/>
                          </a:solidFill>
                        </a:rPr>
                        <a:t>Seat inventory control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chemeClr val="dk1"/>
                          </a:solidFill>
                        </a:rPr>
                        <a:t>Belobaba (1987, 1989); Feng &amp; Xiao (2001)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chemeClr val="dk1"/>
                          </a:solidFill>
                        </a:rPr>
                        <a:t>Seat inventory control and dynamic seat rationing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chemeClr val="dk1"/>
                          </a:solidFill>
                        </a:rPr>
                        <a:t>Revenue management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chemeClr val="dk1"/>
                          </a:solidFill>
                        </a:rPr>
                        <a:t>McGill &amp; van Ryzin (1999); de Boer et al. (2002)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chemeClr val="dk1"/>
                          </a:solidFill>
                        </a:rPr>
                        <a:t>Overview; network revenue management approaches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chemeClr val="dk1"/>
                          </a:solidFill>
                        </a:rPr>
                        <a:t>Seat allocation &amp; bookings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chemeClr val="dk1"/>
                          </a:solidFill>
                        </a:rPr>
                        <a:t>Hung &amp; Chen (2013); Lin et al. (2020); Hung et al. (2021)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chemeClr val="dk1"/>
                          </a:solidFill>
                        </a:rPr>
                        <a:t>Dynamic seat allocation, hybrid control, group booking and bid-price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chemeClr val="dk1"/>
                          </a:solidFill>
                        </a:rPr>
                        <a:t>Customer &amp; delay analytics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chemeClr val="dk1"/>
                          </a:solidFill>
                        </a:rPr>
                        <a:t>Dolnicar et al. (2008); Zhong et al. (2025)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chemeClr val="dk1"/>
                          </a:solidFill>
                        </a:rPr>
                        <a:t>Revenue management and satisfaction; ML-based flight-delay prediction</a:t>
                      </a:r>
                      <a:endParaRPr sz="11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82" name="Google Shape;82;p10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1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research focuses mainly on revenue management and seat-inventory optimization models.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Little attention to a simple, integrated, database-driven portal tying booking records to operational reports.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booking systems keep search, booking, baggage, check-in and reporting in separate processes.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work: one relational database powers booking, seat availability and analytics together.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1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548640" y="1463040"/>
            <a:ext cx="182880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2"/>
          <p:cNvSpPr txBox="1"/>
          <p:nvPr/>
        </p:nvSpPr>
        <p:spPr>
          <a:xfrm>
            <a:off x="548640" y="14630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"/>
          <p:cNvSpPr txBox="1"/>
          <p:nvPr/>
        </p:nvSpPr>
        <p:spPr>
          <a:xfrm>
            <a:off x="548640" y="22860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criteria and passenger details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 txBox="1"/>
          <p:nvPr/>
        </p:nvSpPr>
        <p:spPr>
          <a:xfrm>
            <a:off x="2359152" y="1508760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2624328" y="1463040"/>
            <a:ext cx="1828800" cy="731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2624328" y="14630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2624328" y="22860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Flask validates and applies business logic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434840" y="1508760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2"/>
          <p:cNvSpPr/>
          <p:nvPr/>
        </p:nvSpPr>
        <p:spPr>
          <a:xfrm>
            <a:off x="4700016" y="1463040"/>
            <a:ext cx="1828800" cy="7315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 txBox="1"/>
          <p:nvPr/>
        </p:nvSpPr>
        <p:spPr>
          <a:xfrm>
            <a:off x="4700016" y="14630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4700016" y="22860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 stores and retrieves records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6510528" y="1508760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6775704" y="1463040"/>
            <a:ext cx="182880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"/>
          <p:cNvSpPr txBox="1"/>
          <p:nvPr/>
        </p:nvSpPr>
        <p:spPr>
          <a:xfrm>
            <a:off x="6775704" y="14630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6775704" y="22860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Flights, booking status, analytics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Request path: Frontend → Flask route → validation / business logic → MySQL query → response → display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548640" y="1143000"/>
            <a:ext cx="23774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548640" y="114300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Frontend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3108960" y="11430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HTML, CSS, JavaScript, Bootstrap: forms, results, 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548640" y="2011680"/>
            <a:ext cx="2377440" cy="731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548640" y="201168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3108960" y="201168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Flask: routes, validation, business rules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548640" y="2880360"/>
            <a:ext cx="2377440" cy="7315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548640" y="288036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Database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3108960" y="28803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MySQL: flights, passengers, bookings, airports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548640" y="3749040"/>
            <a:ext cx="23774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548640" y="374904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Analytics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3108960" y="374904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Aggregates data into daily, route, utilization, on-time reports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14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{B5C137D9-A1DC-4621-B60F-EEB72EF24ED4}</a:tableStyleId>
              </a:tblPr>
              <a:tblGrid>
                <a:gridCol w="1463050"/>
                <a:gridCol w="3200400"/>
                <a:gridCol w="3383275"/>
              </a:tblGrid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Layer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Technology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Purpose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Frontend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HTML5, CSS3, JavaScript, Bootstrap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Structure, styling, validation, responsive UI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Backend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Python, Flask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Routing, business logic, API endpoints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Database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MySQL, MySQL Workbench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Relational storage; schema design and SQL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Tools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VS Code, Git / GitHub, Postman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Development, version control, API testing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14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/ Input Details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15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{B5C137D9-A1DC-4621-B60F-EEB72EF24ED4}</a:tableStyleId>
              </a:tblPr>
              <a:tblGrid>
                <a:gridCol w="1463050"/>
                <a:gridCol w="1554475"/>
                <a:gridCol w="5029200"/>
              </a:tblGrid>
              <a:tr h="15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chemeClr val="lt1"/>
                          </a:solidFill>
                        </a:rPr>
                        <a:t>Entity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chemeClr val="lt1"/>
                          </a:solidFill>
                        </a:rPr>
                        <a:t>Primary Key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chemeClr val="lt1"/>
                          </a:solidFill>
                        </a:rPr>
                        <a:t>Important Attributes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chemeClr val="dk1"/>
                          </a:solidFill>
                        </a:rPr>
                        <a:t>Airports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chemeClr val="dk1"/>
                          </a:solidFill>
                        </a:rPr>
                        <a:t>Airport_ID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chemeClr val="dk1"/>
                          </a:solidFill>
                        </a:rPr>
                        <a:t>Airport_Code, Name, City, Location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chemeClr val="dk1"/>
                          </a:solidFill>
                        </a:rPr>
                        <a:t>Flights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chemeClr val="dk1"/>
                          </a:solidFill>
                        </a:rPr>
                        <a:t>Flight_ID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chemeClr val="dk1"/>
                          </a:solidFill>
                        </a:rPr>
                        <a:t>Flight_Number, Source, Destination, Date/Time, Total_Seats, Available_Seats, Status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chemeClr val="dk1"/>
                          </a:solidFill>
                        </a:rPr>
                        <a:t>Passengers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chemeClr val="dk1"/>
                          </a:solidFill>
                        </a:rPr>
                        <a:t>Passenger_ID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chemeClr val="dk1"/>
                          </a:solidFill>
                        </a:rPr>
                        <a:t>Name, Email, Phone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chemeClr val="dk1"/>
                          </a:solidFill>
                        </a:rPr>
                        <a:t>Bookings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chemeClr val="dk1"/>
                          </a:solidFill>
                        </a:rPr>
                        <a:t>Booking_ID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chemeClr val="dk1"/>
                          </a:solidFill>
                        </a:rPr>
                        <a:t>Passenger_ID, Flight_ID, Seat_No, Booking_Date, Status</a:t>
                      </a:r>
                      <a:endParaRPr sz="125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15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User inputs: source, destination, date and passenger details. Data is stored in MySQL tables linked by primary and foreign keys.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Implementation – Module 1: Flight &amp; Airport Management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Stores flight identity, route, schedule, seat capacity and status.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Airport module keeps source/destination airport details consistent.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by source, destination and date; only flights with seats left are shown.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CRUD: add, view, edit and delete flight and airport records.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Endpoint: /search (GET / POST).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Implementation – Module 2: Passenger &amp; Booking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Captures passenger details and links them to bookings via Passenger_ID.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Validates seat availability, then inserts a booking record.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Available_Seats is decremented only when seats remain; otherwise error 409.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Booking status and history can be viewed after confirmation.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Endpoints: /book (POST), /bookings (GET).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Implementation – Module 3: Analytics &amp; Algorithms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aggregation (GROUP BY, JOIN, COUNT) over booking and flight data.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Indicators: daily booking count, route bookings, seat utilization %, on-time rate %.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Endpoint: /analytics (GET).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Algorithms studied: Dijkstra (cheapest route), A* (heuristic search), Greedy (lowest fare / earliest flight), hashing (fast lookup).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19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{B5C137D9-A1DC-4621-B60F-EEB72EF24ED4}</a:tableStyleId>
              </a:tblPr>
              <a:tblGrid>
                <a:gridCol w="2377450"/>
                <a:gridCol w="5669275"/>
              </a:tblGrid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Component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Specification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Processor / RAM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Intel Core i5 / Ryzen 5 or equivalent; 8 GB minimum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Storage / Display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SSD; 1366×768 or higher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Software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Python, Flask, MySQL Server, MySQL Workbench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Browser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Chrome / Edge / Firefox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Environment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Local: Flask at localhost:5000, MySQL on port 3306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19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" name="Google Shape;198;p20"/>
          <p:cNvGraphicFramePr/>
          <p:nvPr/>
        </p:nvGraphicFramePr>
        <p:xfrm>
          <a:off x="54864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{B5C137D9-A1DC-4621-B60F-EEB72EF24ED4}</a:tableStyleId>
              </a:tblPr>
              <a:tblGrid>
                <a:gridCol w="1645925"/>
                <a:gridCol w="2560325"/>
                <a:gridCol w="2560325"/>
                <a:gridCol w="12801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Test Case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Action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Status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Flight search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Valid source / destination / date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Matching flights displayed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Invalid search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Missing required field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Validation message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Create booking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Available flight + valid passenger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Booking record created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Seat availability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Book a seat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Available seats decrease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Analytics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Open daily / route report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Correct aggregated values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CRUD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Create / read / update / delete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Database reflects change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20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Performance Evaluation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" name="Google Shape;207;p21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{B5C137D9-A1DC-4621-B60F-EEB72EF24ED4}</a:tableStyleId>
              </a:tblPr>
              <a:tblGrid>
                <a:gridCol w="2743200"/>
                <a:gridCol w="5303525"/>
              </a:tblGrid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Indicator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Formula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Daily Booking Count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Booking records created on a selected date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Route Bookings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Bookings grouped by source and destination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Seat Utilization (%)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(Booked Seats / Total Seats) × 100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On-Time Rate (%)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(On-Time Flights / Total Flights) × 100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208" name="Google Shape;208;p21"/>
          <p:cNvSpPr txBox="1"/>
          <p:nvPr/>
        </p:nvSpPr>
        <p:spPr>
          <a:xfrm>
            <a:off x="548640" y="35661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Evaluation: functional testing in browser, MySQL Workbench and Postman; measured load and response-time benchmarks are not yet recorded.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Screenshots / Working Demo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48640" y="1188720"/>
            <a:ext cx="256032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48640" y="1188720"/>
            <a:ext cx="2560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Insert screenshot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Home / Search 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Insert screenshot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Flight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6035040" y="1188720"/>
            <a:ext cx="256032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035040" y="1188720"/>
            <a:ext cx="2560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Insert screenshot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Booking 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48640" y="2926080"/>
            <a:ext cx="256032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48640" y="2926080"/>
            <a:ext cx="2560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Insert screenshot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Booking confirmation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3291840" y="2926080"/>
            <a:ext cx="256032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3291840" y="2926080"/>
            <a:ext cx="2560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Insert screenshot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Database 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6035040" y="2926080"/>
            <a:ext cx="2560320" cy="15544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035040" y="2926080"/>
            <a:ext cx="2560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Insert screenshot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Analytics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Comparison with Existing System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23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{B5C137D9-A1DC-4621-B60F-EEB72EF24ED4}</a:tableStyleId>
              </a:tblPr>
              <a:tblGrid>
                <a:gridCol w="1737350"/>
                <a:gridCol w="3108950"/>
                <a:gridCol w="32004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Aspect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Existing / Basic Systems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Proposed Portal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Spread across separate systems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One centralized MySQL database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Booking lifecycle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Hard to track end to end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Search → booking → seat update in one flow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Seat availability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Manual, may be inaccurate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Checked and updated during booking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Reporting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Limited, manual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SQL-based daily, route, utilization, on-time reports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Errors / redundancy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Manual entry, duplication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Keys and validation reduce duplication</a:t>
                      </a:r>
                      <a:endParaRPr sz="12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238;p23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Challenges &amp; Solutions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24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{B5C137D9-A1DC-4621-B60F-EEB72EF24ED4}</a:tableStyleId>
              </a:tblPr>
              <a:tblGrid>
                <a:gridCol w="3657600"/>
                <a:gridCol w="4389125"/>
              </a:tblGrid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Challenge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Solution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Keeping bookings and seats consistent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Seat availability checked and updated in the booking workflow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Relating flights, passengers, airports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Primary and foreign keys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Correct SQL aggregation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Joins and GROUP BY queries for reports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Invalid user input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Validation before insertion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Frontend–Flask request handling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Clear separation of frontend, backend and database</a:t>
                      </a:r>
                      <a:endParaRPr sz="1300" u="none" cap="none" strike="noStrike"/>
                    </a:p>
                  </a:txBody>
                  <a:tcPr marT="64000" marB="64000" marR="64000" marL="64000" anchor="ctr">
                    <a:lnL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47" name="Google Shape;247;p24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Current Progress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model for Flights, Passengers, Bookings and Airports completed.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Flight search and booking workflow working.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Database-backed CRUD operations implemented.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Seat availability handled in the booking workflow.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 calculations for bookings, routes, seat utilization and on-time rate.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Frontend, Flask and MySQL integrated; all listed test cases passed.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Remaining: insert final screenshots; no cloud deployment yet (local prototype).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548640" y="1234440"/>
            <a:ext cx="2560320" cy="32004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6"/>
          <p:cNvSpPr/>
          <p:nvPr/>
        </p:nvSpPr>
        <p:spPr>
          <a:xfrm>
            <a:off x="548640" y="1234440"/>
            <a:ext cx="256032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68580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Integrations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685800" y="19202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airline / flight-status APIs and an online payment gateway.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3291840" y="1234440"/>
            <a:ext cx="2560320" cy="32004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6"/>
          <p:cNvSpPr/>
          <p:nvPr/>
        </p:nvSpPr>
        <p:spPr>
          <a:xfrm>
            <a:off x="3291840" y="1234440"/>
            <a:ext cx="2560320" cy="64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342900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Security &amp; 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3429000" y="19202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Role-based administration, HTTPS, indexes, caching, transactions with row-level locking.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6035040" y="1234440"/>
            <a:ext cx="2560320" cy="32004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6035040" y="1234440"/>
            <a:ext cx="2560320" cy="64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617220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6172200" y="19202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dashboards, delay prediction, demand forecasting, notifications, mobile app.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Integrated, database-driven portal for flight booking and operational analytics.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 MySQL storage improves consistency and removes duplicated records.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Booking data also drives seat utilization, route and on-time reports.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Demonstrates web development, DBMS, backend processing and algorithmic concepts in one prototype.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14696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548640" y="1143000"/>
            <a:ext cx="80467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Belobaba, P. P. (1987). Airline Yield Management: An Overview of Seat Inventory Control. Transportation Science.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McGill, J. I., &amp; van Ryzin, G. J. (1999). Revenue Management: Research Overview and Prospects. Transportation Science.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Belobaba, P. P. (1989). Probabilistic Decision Model for Airline Seat Inventory Control. Operations Research.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Feng, Y., &amp; Xiao, B. (2001). Dynamic Airline Seat Inventory Control Model. Operations Research.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Hung &amp; Chen (2013); de Boer et al. (2002); Lin et al. (2020); Hung et al. (2021); Dolnicar et al. (2008); Zhong et al. (2025).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Python, Flask, MySQL / Workbench and Bootstrap official documentation.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 txBox="1"/>
          <p:nvPr>
            <p:ph idx="4294967295" type="sldNum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yBook">
  <a:themeElements>
    <a:clrScheme name="SkyBook">
      <a:dk1>
        <a:srgbClr val="1B2A41"/>
      </a:dk1>
      <a:lt1>
        <a:srgbClr val="FFFFFF"/>
      </a:lt1>
      <a:dk2>
        <a:srgbClr val="0B3C5D"/>
      </a:dk2>
      <a:lt2>
        <a:srgbClr val="EEF4F8"/>
      </a:lt2>
      <a:accent1>
        <a:srgbClr val="1D70B8"/>
      </a:accent1>
      <a:accent2>
        <a:srgbClr val="F29F05"/>
      </a:accent2>
      <a:accent3>
        <a:srgbClr val="2E9E83"/>
      </a:accent3>
      <a:accent4>
        <a:srgbClr val="D1495B"/>
      </a:accent4>
      <a:accent5>
        <a:srgbClr val="6C7A89"/>
      </a:accent5>
      <a:accent6>
        <a:srgbClr val="328CC1"/>
      </a:accent6>
      <a:hlink>
        <a:srgbClr val="1D70B8"/>
      </a:hlink>
      <a:folHlink>
        <a:srgbClr val="6C7A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kyBook">
  <a:themeElements>
    <a:clrScheme name="SkyBook">
      <a:dk1>
        <a:srgbClr val="1B2A41"/>
      </a:dk1>
      <a:lt1>
        <a:srgbClr val="FFFFFF"/>
      </a:lt1>
      <a:dk2>
        <a:srgbClr val="0B3C5D"/>
      </a:dk2>
      <a:lt2>
        <a:srgbClr val="EEF4F8"/>
      </a:lt2>
      <a:accent1>
        <a:srgbClr val="1D70B8"/>
      </a:accent1>
      <a:accent2>
        <a:srgbClr val="F29F05"/>
      </a:accent2>
      <a:accent3>
        <a:srgbClr val="2E9E83"/>
      </a:accent3>
      <a:accent4>
        <a:srgbClr val="D1495B"/>
      </a:accent4>
      <a:accent5>
        <a:srgbClr val="6C7A89"/>
      </a:accent5>
      <a:accent6>
        <a:srgbClr val="328CC1"/>
      </a:accent6>
      <a:hlink>
        <a:srgbClr val="1D70B8"/>
      </a:hlink>
      <a:folHlink>
        <a:srgbClr val="6C7A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