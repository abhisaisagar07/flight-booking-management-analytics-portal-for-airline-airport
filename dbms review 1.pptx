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" name="Google Shape;3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" name="Google Shape;5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p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3"/>
          <p:cNvCxnSpPr/>
          <p:nvPr/>
        </p:nvCxnSpPr>
        <p:spPr>
          <a:xfrm>
            <a:off x="822960" y="1417320"/>
            <a:ext cx="822960" cy="0"/>
          </a:xfrm>
          <a:prstGeom prst="straightConnector1">
            <a:avLst/>
          </a:prstGeom>
          <a:noFill/>
          <a:ln cap="flat" cmpd="sng" w="25400">
            <a:solidFill>
              <a:srgbClr val="A9711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" name="Google Shape;17;p3"/>
          <p:cNvSpPr txBox="1"/>
          <p:nvPr/>
        </p:nvSpPr>
        <p:spPr>
          <a:xfrm>
            <a:off x="822960" y="16002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711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A9711F"/>
                </a:solidFill>
                <a:latin typeface="Calibri"/>
                <a:ea typeface="Calibri"/>
                <a:cs typeface="Calibri"/>
                <a:sym typeface="Calibri"/>
              </a:rPr>
              <a:t>AIRLINE &amp; AIRPORT OPERATIONS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 txBox="1"/>
          <p:nvPr/>
        </p:nvSpPr>
        <p:spPr>
          <a:xfrm>
            <a:off x="822960" y="2011680"/>
            <a:ext cx="987552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6233F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16233F"/>
                </a:solidFill>
                <a:latin typeface="Cambria"/>
                <a:ea typeface="Cambria"/>
                <a:cs typeface="Cambria"/>
                <a:sym typeface="Cambria"/>
              </a:rPr>
              <a:t>Flight Booking Management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6233F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16233F"/>
                </a:solidFill>
                <a:latin typeface="Cambria"/>
                <a:ea typeface="Cambria"/>
                <a:cs typeface="Cambria"/>
                <a:sym typeface="Cambria"/>
              </a:rPr>
              <a:t>&amp; Analytics Portal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 txBox="1"/>
          <p:nvPr/>
        </p:nvSpPr>
        <p:spPr>
          <a:xfrm>
            <a:off x="822960" y="3794760"/>
            <a:ext cx="7498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A single, easy system for airlines and airports to book flights, manage seats, and read flight data.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" name="Google Shape;20;p3"/>
          <p:cNvCxnSpPr/>
          <p:nvPr/>
        </p:nvCxnSpPr>
        <p:spPr>
          <a:xfrm>
            <a:off x="822960" y="5806440"/>
            <a:ext cx="10515600" cy="0"/>
          </a:xfrm>
          <a:prstGeom prst="straightConnector1">
            <a:avLst/>
          </a:prstGeom>
          <a:noFill/>
          <a:ln cap="flat" cmpd="sng" w="12700">
            <a:solidFill>
              <a:srgbClr val="E3E6E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" name="Google Shape;21;p3"/>
          <p:cNvSpPr txBox="1"/>
          <p:nvPr/>
        </p:nvSpPr>
        <p:spPr>
          <a:xfrm>
            <a:off x="822960" y="598932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3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6233F"/>
                </a:solidFill>
                <a:latin typeface="Calibri"/>
                <a:ea typeface="Calibri"/>
                <a:cs typeface="Calibri"/>
                <a:sym typeface="Calibri"/>
              </a:rPr>
              <a:t>Your Name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 txBox="1"/>
          <p:nvPr/>
        </p:nvSpPr>
        <p:spPr>
          <a:xfrm>
            <a:off x="822960" y="626364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Roll No: 2520090173 – ABHI SAI SAGAR MEKONDA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 txBox="1"/>
          <p:nvPr/>
        </p:nvSpPr>
        <p:spPr>
          <a:xfrm>
            <a:off x="7589520" y="6044739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3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6233F"/>
                </a:solidFill>
                <a:latin typeface="Calibri"/>
                <a:ea typeface="Calibri"/>
                <a:cs typeface="Calibri"/>
                <a:sym typeface="Calibri"/>
              </a:rPr>
              <a:t>Team Member Name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 txBox="1"/>
          <p:nvPr/>
        </p:nvSpPr>
        <p:spPr>
          <a:xfrm>
            <a:off x="4206240" y="626364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Roll No: 2520090148 – SAINATH LINGAMPALLY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 txBox="1"/>
          <p:nvPr/>
        </p:nvSpPr>
        <p:spPr>
          <a:xfrm>
            <a:off x="4358640" y="614172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3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6233F"/>
                </a:solidFill>
                <a:latin typeface="Calibri"/>
                <a:ea typeface="Calibri"/>
                <a:cs typeface="Calibri"/>
                <a:sym typeface="Calibri"/>
              </a:rPr>
              <a:t>Team Member Name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 txBox="1"/>
          <p:nvPr/>
        </p:nvSpPr>
        <p:spPr>
          <a:xfrm>
            <a:off x="7620000" y="6181899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3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6233F"/>
                </a:solidFill>
                <a:latin typeface="Calibri"/>
                <a:ea typeface="Calibri"/>
                <a:cs typeface="Calibri"/>
                <a:sym typeface="Calibri"/>
              </a:rPr>
              <a:t>Roll no – 2520090194 – NAMAN MASINENI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" name="Google Shape;27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22669" y="-684081"/>
            <a:ext cx="2384875" cy="2384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/>
          <p:nvPr/>
        </p:nvSpPr>
        <p:spPr>
          <a:xfrm>
            <a:off x="822960" y="54864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711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A9711F"/>
                </a:solidFill>
                <a:latin typeface="Calibri"/>
                <a:ea typeface="Calibri"/>
                <a:cs typeface="Calibri"/>
                <a:sym typeface="Calibri"/>
              </a:rPr>
              <a:t>CORE FEATURES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 txBox="1"/>
          <p:nvPr/>
        </p:nvSpPr>
        <p:spPr>
          <a:xfrm>
            <a:off x="822960" y="914400"/>
            <a:ext cx="10515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3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6233F"/>
                </a:solidFill>
                <a:latin typeface="Cambria"/>
                <a:ea typeface="Cambria"/>
                <a:cs typeface="Cambria"/>
                <a:sym typeface="Cambria"/>
              </a:rPr>
              <a:t>What the system does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" name="Google Shape;35;p4"/>
          <p:cNvCxnSpPr/>
          <p:nvPr/>
        </p:nvCxnSpPr>
        <p:spPr>
          <a:xfrm>
            <a:off x="6080760" y="1965960"/>
            <a:ext cx="0" cy="4023360"/>
          </a:xfrm>
          <a:prstGeom prst="straightConnector1">
            <a:avLst/>
          </a:prstGeom>
          <a:noFill/>
          <a:ln cap="flat" cmpd="sng" w="12700">
            <a:solidFill>
              <a:srgbClr val="E3E6E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p4"/>
          <p:cNvSpPr txBox="1"/>
          <p:nvPr/>
        </p:nvSpPr>
        <p:spPr>
          <a:xfrm>
            <a:off x="822960" y="1965960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711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A9711F"/>
                </a:solidFill>
                <a:latin typeface="Calibri"/>
                <a:ea typeface="Calibri"/>
                <a:cs typeface="Calibri"/>
                <a:sym typeface="Calibri"/>
              </a:rPr>
              <a:t>Booking Management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 txBox="1"/>
          <p:nvPr/>
        </p:nvSpPr>
        <p:spPr>
          <a:xfrm>
            <a:off x="822960" y="2514600"/>
            <a:ext cx="4846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—  Search flights by date, place, and price.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 txBox="1"/>
          <p:nvPr/>
        </p:nvSpPr>
        <p:spPr>
          <a:xfrm>
            <a:off x="822960" y="3172968"/>
            <a:ext cx="4846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—  Book, change, or cancel tickets in a few clicks.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 txBox="1"/>
          <p:nvPr/>
        </p:nvSpPr>
        <p:spPr>
          <a:xfrm>
            <a:off x="822960" y="3831336"/>
            <a:ext cx="4846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—  Seat count updates the moment a ticket is booked.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 txBox="1"/>
          <p:nvPr/>
        </p:nvSpPr>
        <p:spPr>
          <a:xfrm>
            <a:off x="822960" y="4489704"/>
            <a:ext cx="4846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—  Sends booking details straight to the passenger.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 txBox="1"/>
          <p:nvPr/>
        </p:nvSpPr>
        <p:spPr>
          <a:xfrm>
            <a:off x="6400800" y="1965960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711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A9711F"/>
                </a:solidFill>
                <a:latin typeface="Calibri"/>
                <a:ea typeface="Calibri"/>
                <a:cs typeface="Calibri"/>
                <a:sym typeface="Calibri"/>
              </a:rPr>
              <a:t>Live Analytics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 txBox="1"/>
          <p:nvPr/>
        </p:nvSpPr>
        <p:spPr>
          <a:xfrm>
            <a:off x="6400800" y="2514600"/>
            <a:ext cx="4846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—  Shows how many tickets are booked each day.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 txBox="1"/>
          <p:nvPr/>
        </p:nvSpPr>
        <p:spPr>
          <a:xfrm>
            <a:off x="6400800" y="3172968"/>
            <a:ext cx="4846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—  Tracks flight delays and the busiest routes.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 txBox="1"/>
          <p:nvPr/>
        </p:nvSpPr>
        <p:spPr>
          <a:xfrm>
            <a:off x="6400800" y="3831336"/>
            <a:ext cx="4846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—  Gives quick, easy reports for airline staff.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 txBox="1"/>
          <p:nvPr/>
        </p:nvSpPr>
        <p:spPr>
          <a:xfrm>
            <a:off x="6400800" y="4489704"/>
            <a:ext cx="4846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—  Helps airports plan gates and staff better.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7" name="Google Shape;47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22669" y="-684081"/>
            <a:ext cx="2384875" cy="2384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5"/>
          <p:cNvSpPr txBox="1"/>
          <p:nvPr/>
        </p:nvSpPr>
        <p:spPr>
          <a:xfrm>
            <a:off x="822960" y="54864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711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A9711F"/>
                </a:solidFill>
                <a:latin typeface="Calibri"/>
                <a:ea typeface="Calibri"/>
                <a:cs typeface="Calibri"/>
                <a:sym typeface="Calibri"/>
              </a:rPr>
              <a:t>THE PROBLEM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5"/>
          <p:cNvSpPr txBox="1"/>
          <p:nvPr/>
        </p:nvSpPr>
        <p:spPr>
          <a:xfrm>
            <a:off x="822960" y="914400"/>
            <a:ext cx="10515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3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6233F"/>
                </a:solidFill>
                <a:latin typeface="Cambria"/>
                <a:ea typeface="Cambria"/>
                <a:cs typeface="Cambria"/>
                <a:sym typeface="Cambria"/>
              </a:rPr>
              <a:t>Old booking systems slow everyone down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 txBox="1"/>
          <p:nvPr/>
        </p:nvSpPr>
        <p:spPr>
          <a:xfrm>
            <a:off x="822960" y="1952897"/>
            <a:ext cx="640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711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A9711F"/>
                </a:solidFill>
                <a:latin typeface="Cambria"/>
                <a:ea typeface="Cambria"/>
                <a:cs typeface="Cambria"/>
                <a:sym typeface="Cambria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 txBox="1"/>
          <p:nvPr/>
        </p:nvSpPr>
        <p:spPr>
          <a:xfrm>
            <a:off x="1463040" y="2148840"/>
            <a:ext cx="9418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3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6233F"/>
                </a:solidFill>
                <a:latin typeface="Calibri"/>
                <a:ea typeface="Calibri"/>
                <a:cs typeface="Calibri"/>
                <a:sym typeface="Calibri"/>
              </a:rPr>
              <a:t>Slow manual booking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 txBox="1"/>
          <p:nvPr/>
        </p:nvSpPr>
        <p:spPr>
          <a:xfrm>
            <a:off x="1463040" y="2318657"/>
            <a:ext cx="9418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Booking by hand takes too long and creates long queues at the counter.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 txBox="1"/>
          <p:nvPr/>
        </p:nvSpPr>
        <p:spPr>
          <a:xfrm>
            <a:off x="822960" y="3200400"/>
            <a:ext cx="640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711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A9711F"/>
                </a:solidFill>
                <a:latin typeface="Cambria"/>
                <a:ea typeface="Cambria"/>
                <a:cs typeface="Cambria"/>
                <a:sym typeface="Cambria"/>
              </a:rPr>
              <a:t>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 txBox="1"/>
          <p:nvPr/>
        </p:nvSpPr>
        <p:spPr>
          <a:xfrm>
            <a:off x="1463040" y="3200400"/>
            <a:ext cx="9418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3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6233F"/>
                </a:solidFill>
                <a:latin typeface="Calibri"/>
                <a:ea typeface="Calibri"/>
                <a:cs typeface="Calibri"/>
                <a:sym typeface="Calibri"/>
              </a:rPr>
              <a:t>Scattered data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 txBox="1"/>
          <p:nvPr/>
        </p:nvSpPr>
        <p:spPr>
          <a:xfrm>
            <a:off x="1463040" y="3566160"/>
            <a:ext cx="9418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Flight, seat, and passenger records sit in different files and don't match up.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 txBox="1"/>
          <p:nvPr/>
        </p:nvSpPr>
        <p:spPr>
          <a:xfrm>
            <a:off x="822960" y="4251960"/>
            <a:ext cx="640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711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A9711F"/>
                </a:solidFill>
                <a:latin typeface="Cambria"/>
                <a:ea typeface="Cambria"/>
                <a:cs typeface="Cambria"/>
                <a:sym typeface="Cambria"/>
              </a:rPr>
              <a:t>03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 txBox="1"/>
          <p:nvPr/>
        </p:nvSpPr>
        <p:spPr>
          <a:xfrm>
            <a:off x="1463040" y="4251960"/>
            <a:ext cx="9418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3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6233F"/>
                </a:solidFill>
                <a:latin typeface="Calibri"/>
                <a:ea typeface="Calibri"/>
                <a:cs typeface="Calibri"/>
                <a:sym typeface="Calibri"/>
              </a:rPr>
              <a:t>No live seat status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 txBox="1"/>
          <p:nvPr/>
        </p:nvSpPr>
        <p:spPr>
          <a:xfrm>
            <a:off x="1463040" y="4617720"/>
            <a:ext cx="9418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Staff can't see real seat numbers, so flights get overbooked by mistake.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 txBox="1"/>
          <p:nvPr/>
        </p:nvSpPr>
        <p:spPr>
          <a:xfrm>
            <a:off x="822960" y="5303520"/>
            <a:ext cx="640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711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A9711F"/>
                </a:solidFill>
                <a:latin typeface="Cambria"/>
                <a:ea typeface="Cambria"/>
                <a:cs typeface="Cambria"/>
                <a:sym typeface="Cambria"/>
              </a:rPr>
              <a:t>04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 txBox="1"/>
          <p:nvPr/>
        </p:nvSpPr>
        <p:spPr>
          <a:xfrm>
            <a:off x="1463040" y="5303520"/>
            <a:ext cx="9418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3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6233F"/>
                </a:solidFill>
                <a:latin typeface="Calibri"/>
                <a:ea typeface="Calibri"/>
                <a:cs typeface="Calibri"/>
                <a:sym typeface="Calibri"/>
              </a:rPr>
              <a:t>No easy reports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 txBox="1"/>
          <p:nvPr/>
        </p:nvSpPr>
        <p:spPr>
          <a:xfrm>
            <a:off x="1463040" y="5669280"/>
            <a:ext cx="9418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Checking delays, busy routes, or daily bookings takes far too much work.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8" name="Google Shape;68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22669" y="-684081"/>
            <a:ext cx="2384875" cy="2384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6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6"/>
          <p:cNvSpPr txBox="1"/>
          <p:nvPr/>
        </p:nvSpPr>
        <p:spPr>
          <a:xfrm>
            <a:off x="640080" y="365760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METHODOLOGY</a:t>
            </a:r>
            <a:endParaRPr/>
          </a:p>
        </p:txBody>
      </p:sp>
      <p:sp>
        <p:nvSpPr>
          <p:cNvPr id="75" name="Google Shape;75;p6"/>
          <p:cNvSpPr txBox="1"/>
          <p:nvPr/>
        </p:nvSpPr>
        <p:spPr>
          <a:xfrm>
            <a:off x="640080" y="914400"/>
            <a:ext cx="10972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 database-driven workflow converts user input into bookings, updates and analytics.</a:t>
            </a:r>
            <a:endParaRPr/>
          </a:p>
        </p:txBody>
      </p:sp>
      <p:sp>
        <p:nvSpPr>
          <p:cNvPr id="76" name="Google Shape;76;p6"/>
          <p:cNvSpPr/>
          <p:nvPr/>
        </p:nvSpPr>
        <p:spPr>
          <a:xfrm>
            <a:off x="640080" y="1508760"/>
            <a:ext cx="2580894" cy="45262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6"/>
          <p:cNvSpPr txBox="1"/>
          <p:nvPr/>
        </p:nvSpPr>
        <p:spPr>
          <a:xfrm>
            <a:off x="822959" y="1737360"/>
            <a:ext cx="2215134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1E40AF"/>
                </a:solidFill>
                <a:latin typeface="Calibri"/>
                <a:ea typeface="Calibri"/>
                <a:cs typeface="Calibri"/>
                <a:sym typeface="Calibri"/>
              </a:rPr>
              <a:t>INPUT</a:t>
            </a:r>
            <a:endParaRPr/>
          </a:p>
        </p:txBody>
      </p:sp>
      <p:sp>
        <p:nvSpPr>
          <p:cNvPr id="78" name="Google Shape;78;p6"/>
          <p:cNvSpPr txBox="1"/>
          <p:nvPr/>
        </p:nvSpPr>
        <p:spPr>
          <a:xfrm>
            <a:off x="822959" y="2331720"/>
            <a:ext cx="2215134" cy="3383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• Passenger details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• Travel date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• Source &amp; destination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• Flight/seat choice</a:t>
            </a:r>
            <a:endParaRPr/>
          </a:p>
        </p:txBody>
      </p:sp>
      <p:sp>
        <p:nvSpPr>
          <p:cNvPr id="79" name="Google Shape;79;p6"/>
          <p:cNvSpPr/>
          <p:nvPr/>
        </p:nvSpPr>
        <p:spPr>
          <a:xfrm>
            <a:off x="3422141" y="1508760"/>
            <a:ext cx="2580894" cy="45262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6"/>
          <p:cNvSpPr txBox="1"/>
          <p:nvPr/>
        </p:nvSpPr>
        <p:spPr>
          <a:xfrm>
            <a:off x="3605022" y="1737360"/>
            <a:ext cx="2215134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1E40AF"/>
                </a:solidFill>
                <a:latin typeface="Calibri"/>
                <a:ea typeface="Calibri"/>
                <a:cs typeface="Calibri"/>
                <a:sym typeface="Calibri"/>
              </a:rPr>
              <a:t>PROCESSING</a:t>
            </a:r>
            <a:endParaRPr/>
          </a:p>
        </p:txBody>
      </p:sp>
      <p:sp>
        <p:nvSpPr>
          <p:cNvPr id="81" name="Google Shape;81;p6"/>
          <p:cNvSpPr txBox="1"/>
          <p:nvPr/>
        </p:nvSpPr>
        <p:spPr>
          <a:xfrm>
            <a:off x="3605022" y="2331720"/>
            <a:ext cx="2215134" cy="3383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• Validate input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• Search flight records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• Check availability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• Insert/update booking</a:t>
            </a:r>
            <a:endParaRPr/>
          </a:p>
        </p:txBody>
      </p:sp>
      <p:sp>
        <p:nvSpPr>
          <p:cNvPr id="82" name="Google Shape;82;p6"/>
          <p:cNvSpPr/>
          <p:nvPr/>
        </p:nvSpPr>
        <p:spPr>
          <a:xfrm>
            <a:off x="6204204" y="1508760"/>
            <a:ext cx="2580894" cy="45262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6"/>
          <p:cNvSpPr txBox="1"/>
          <p:nvPr/>
        </p:nvSpPr>
        <p:spPr>
          <a:xfrm>
            <a:off x="6387084" y="1737360"/>
            <a:ext cx="2215134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1E40AF"/>
                </a:solidFill>
                <a:latin typeface="Calibri"/>
                <a:ea typeface="Calibri"/>
                <a:cs typeface="Calibri"/>
                <a:sym typeface="Calibri"/>
              </a:rPr>
              <a:t>DATABASE</a:t>
            </a:r>
            <a:endParaRPr/>
          </a:p>
        </p:txBody>
      </p:sp>
      <p:sp>
        <p:nvSpPr>
          <p:cNvPr id="84" name="Google Shape;84;p6"/>
          <p:cNvSpPr txBox="1"/>
          <p:nvPr/>
        </p:nvSpPr>
        <p:spPr>
          <a:xfrm>
            <a:off x="6387084" y="2331720"/>
            <a:ext cx="2215134" cy="3383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• Flights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• Passengers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• Bookings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• Airports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• Keys link records</a:t>
            </a:r>
            <a:endParaRPr/>
          </a:p>
        </p:txBody>
      </p:sp>
      <p:sp>
        <p:nvSpPr>
          <p:cNvPr id="85" name="Google Shape;85;p6"/>
          <p:cNvSpPr/>
          <p:nvPr/>
        </p:nvSpPr>
        <p:spPr>
          <a:xfrm>
            <a:off x="8986265" y="1508760"/>
            <a:ext cx="2580894" cy="45262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6"/>
          <p:cNvSpPr txBox="1"/>
          <p:nvPr/>
        </p:nvSpPr>
        <p:spPr>
          <a:xfrm>
            <a:off x="9169145" y="1737360"/>
            <a:ext cx="2215134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1E40AF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/>
          </a:p>
        </p:txBody>
      </p:sp>
      <p:sp>
        <p:nvSpPr>
          <p:cNvPr id="87" name="Google Shape;87;p6"/>
          <p:cNvSpPr txBox="1"/>
          <p:nvPr/>
        </p:nvSpPr>
        <p:spPr>
          <a:xfrm>
            <a:off x="9169145" y="2331720"/>
            <a:ext cx="2215134" cy="3383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• Booking confirmation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• Updated seat count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• Daily totals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• Delay &amp; route reports</a:t>
            </a:r>
            <a:endParaRPr/>
          </a:p>
        </p:txBody>
      </p:sp>
      <p:pic>
        <p:nvPicPr>
          <p:cNvPr id="88" name="Google Shape;88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22669" y="-684081"/>
            <a:ext cx="2384875" cy="2384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7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7"/>
          <p:cNvSpPr txBox="1"/>
          <p:nvPr/>
        </p:nvSpPr>
        <p:spPr>
          <a:xfrm>
            <a:off x="640080" y="365760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ALGORITHM</a:t>
            </a:r>
            <a:endParaRPr/>
          </a:p>
        </p:txBody>
      </p:sp>
      <p:sp>
        <p:nvSpPr>
          <p:cNvPr id="95" name="Google Shape;95;p7"/>
          <p:cNvSpPr txBox="1"/>
          <p:nvPr/>
        </p:nvSpPr>
        <p:spPr>
          <a:xfrm>
            <a:off x="640080" y="914400"/>
            <a:ext cx="10972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How the Flight Booking &amp; Analytics Portal processes bookings and generates reports.</a:t>
            </a:r>
            <a:endParaRPr/>
          </a:p>
        </p:txBody>
      </p:sp>
      <p:sp>
        <p:nvSpPr>
          <p:cNvPr id="96" name="Google Shape;96;p7"/>
          <p:cNvSpPr/>
          <p:nvPr/>
        </p:nvSpPr>
        <p:spPr>
          <a:xfrm>
            <a:off x="640080" y="1508760"/>
            <a:ext cx="2580894" cy="45262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7"/>
          <p:cNvSpPr txBox="1"/>
          <p:nvPr/>
        </p:nvSpPr>
        <p:spPr>
          <a:xfrm>
            <a:off x="822959" y="1737360"/>
            <a:ext cx="22152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1E40AF"/>
                </a:solidFill>
                <a:latin typeface="Calibri"/>
                <a:ea typeface="Calibri"/>
                <a:cs typeface="Calibri"/>
                <a:sym typeface="Calibri"/>
              </a:rPr>
              <a:t>1. </a:t>
            </a:r>
            <a:r>
              <a:rPr b="1" lang="en-US" sz="1100">
                <a:solidFill>
                  <a:schemeClr val="dk1"/>
                </a:solidFill>
              </a:rPr>
              <a:t>Dijkstra’s Algorithm</a:t>
            </a:r>
            <a:r>
              <a:rPr lang="en-US" sz="1100">
                <a:solidFill>
                  <a:schemeClr val="dk1"/>
                </a:solidFill>
              </a:rPr>
              <a:t> → Optimal route calculation </a:t>
            </a:r>
            <a:endParaRPr/>
          </a:p>
        </p:txBody>
      </p:sp>
      <p:sp>
        <p:nvSpPr>
          <p:cNvPr id="98" name="Google Shape;98;p7"/>
          <p:cNvSpPr txBox="1"/>
          <p:nvPr/>
        </p:nvSpPr>
        <p:spPr>
          <a:xfrm>
            <a:off x="822959" y="2331720"/>
            <a:ext cx="22152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finding the shortest/optimal route between airports. </a:t>
            </a:r>
            <a:endParaRPr/>
          </a:p>
        </p:txBody>
      </p:sp>
      <p:sp>
        <p:nvSpPr>
          <p:cNvPr id="99" name="Google Shape;99;p7"/>
          <p:cNvSpPr/>
          <p:nvPr/>
        </p:nvSpPr>
        <p:spPr>
          <a:xfrm>
            <a:off x="3422141" y="1508760"/>
            <a:ext cx="2580894" cy="45262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7"/>
          <p:cNvSpPr txBox="1"/>
          <p:nvPr/>
        </p:nvSpPr>
        <p:spPr>
          <a:xfrm>
            <a:off x="3605022" y="1737360"/>
            <a:ext cx="22152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1E40AF"/>
                </a:solidFill>
                <a:latin typeface="Calibri"/>
                <a:ea typeface="Calibri"/>
                <a:cs typeface="Calibri"/>
                <a:sym typeface="Calibri"/>
              </a:rPr>
              <a:t>2. </a:t>
            </a:r>
            <a:r>
              <a:rPr b="1" lang="en-US" sz="1550">
                <a:solidFill>
                  <a:srgbClr val="1E40AF"/>
                </a:solidFill>
                <a:latin typeface="Calibri"/>
                <a:ea typeface="Calibri"/>
                <a:cs typeface="Calibri"/>
                <a:sym typeface="Calibri"/>
              </a:rPr>
              <a:t>A* Search Algorithm </a:t>
            </a:r>
            <a:endParaRPr/>
          </a:p>
        </p:txBody>
      </p:sp>
      <p:sp>
        <p:nvSpPr>
          <p:cNvPr id="101" name="Google Shape;101;p7"/>
          <p:cNvSpPr txBox="1"/>
          <p:nvPr/>
        </p:nvSpPr>
        <p:spPr>
          <a:xfrm>
            <a:off x="3605022" y="2331720"/>
            <a:ext cx="2215200" cy="11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optimized route/path finding between airports </a:t>
            </a:r>
            <a:endParaRPr sz="1150"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Fast airport-to-airport path finding </a:t>
            </a:r>
            <a:endParaRPr sz="1150"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7"/>
          <p:cNvSpPr/>
          <p:nvPr/>
        </p:nvSpPr>
        <p:spPr>
          <a:xfrm>
            <a:off x="6204204" y="1508760"/>
            <a:ext cx="2580894" cy="45262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7"/>
          <p:cNvSpPr txBox="1"/>
          <p:nvPr/>
        </p:nvSpPr>
        <p:spPr>
          <a:xfrm>
            <a:off x="6387084" y="1737360"/>
            <a:ext cx="22152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1E40AF"/>
                </a:solidFill>
                <a:latin typeface="Calibri"/>
                <a:ea typeface="Calibri"/>
                <a:cs typeface="Calibri"/>
                <a:sym typeface="Calibri"/>
              </a:rPr>
              <a:t>3. </a:t>
            </a:r>
            <a:r>
              <a:rPr b="1" lang="en-US" sz="1550">
                <a:solidFill>
                  <a:srgbClr val="1E40AF"/>
                </a:solidFill>
                <a:latin typeface="Calibri"/>
                <a:ea typeface="Calibri"/>
                <a:cs typeface="Calibri"/>
                <a:sym typeface="Calibri"/>
              </a:rPr>
              <a:t>Greedy Algorithm </a:t>
            </a:r>
            <a:endParaRPr/>
          </a:p>
        </p:txBody>
      </p:sp>
      <p:sp>
        <p:nvSpPr>
          <p:cNvPr id="104" name="Google Shape;104;p7"/>
          <p:cNvSpPr txBox="1"/>
          <p:nvPr/>
        </p:nvSpPr>
        <p:spPr>
          <a:xfrm>
            <a:off x="6387084" y="2331720"/>
            <a:ext cx="2215200" cy="7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Seat allocation </a:t>
            </a:r>
            <a:endParaRPr sz="1150"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seat allocation / selecting suitable available seats </a:t>
            </a:r>
            <a:endParaRPr sz="1150"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7"/>
          <p:cNvSpPr/>
          <p:nvPr/>
        </p:nvSpPr>
        <p:spPr>
          <a:xfrm>
            <a:off x="8986265" y="1508760"/>
            <a:ext cx="2580894" cy="45262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7"/>
          <p:cNvSpPr txBox="1"/>
          <p:nvPr/>
        </p:nvSpPr>
        <p:spPr>
          <a:xfrm>
            <a:off x="9169145" y="1737360"/>
            <a:ext cx="22152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1E40AF"/>
                </a:solidFill>
                <a:latin typeface="Calibri"/>
                <a:ea typeface="Calibri"/>
                <a:cs typeface="Calibri"/>
                <a:sym typeface="Calibri"/>
              </a:rPr>
              <a:t>4.</a:t>
            </a:r>
            <a:r>
              <a:rPr b="1" lang="en-US" sz="1550">
                <a:solidFill>
                  <a:srgbClr val="1E40AF"/>
                </a:solidFill>
                <a:latin typeface="Calibri"/>
                <a:ea typeface="Calibri"/>
                <a:cs typeface="Calibri"/>
                <a:sym typeface="Calibri"/>
              </a:rPr>
              <a:t>Hashing </a:t>
            </a:r>
            <a:endParaRPr/>
          </a:p>
        </p:txBody>
      </p:sp>
      <p:sp>
        <p:nvSpPr>
          <p:cNvPr id="107" name="Google Shape;107;p7"/>
          <p:cNvSpPr txBox="1"/>
          <p:nvPr/>
        </p:nvSpPr>
        <p:spPr>
          <a:xfrm>
            <a:off x="9169145" y="2331720"/>
            <a:ext cx="22152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Fast booking/passenger lookup </a:t>
            </a:r>
            <a:endParaRPr/>
          </a:p>
        </p:txBody>
      </p:sp>
      <p:pic>
        <p:nvPicPr>
          <p:cNvPr id="108" name="Google Shape;108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22669" y="-684081"/>
            <a:ext cx="2384875" cy="2384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8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8"/>
          <p:cNvSpPr txBox="1"/>
          <p:nvPr/>
        </p:nvSpPr>
        <p:spPr>
          <a:xfrm>
            <a:off x="640080" y="365760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DATASET</a:t>
            </a:r>
            <a:endParaRPr/>
          </a:p>
        </p:txBody>
      </p:sp>
      <p:sp>
        <p:nvSpPr>
          <p:cNvPr id="115" name="Google Shape;115;p8"/>
          <p:cNvSpPr txBox="1"/>
          <p:nvPr/>
        </p:nvSpPr>
        <p:spPr>
          <a:xfrm>
            <a:off x="640080" y="914400"/>
            <a:ext cx="10972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Structured airline and airport records support booking operations and analytics.</a:t>
            </a:r>
            <a:endParaRPr/>
          </a:p>
        </p:txBody>
      </p:sp>
      <p:sp>
        <p:nvSpPr>
          <p:cNvPr id="116" name="Google Shape;116;p8"/>
          <p:cNvSpPr/>
          <p:nvPr/>
        </p:nvSpPr>
        <p:spPr>
          <a:xfrm>
            <a:off x="640080" y="1508760"/>
            <a:ext cx="2580894" cy="45262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8"/>
          <p:cNvSpPr txBox="1"/>
          <p:nvPr/>
        </p:nvSpPr>
        <p:spPr>
          <a:xfrm>
            <a:off x="822959" y="1737360"/>
            <a:ext cx="2215134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1E40AF"/>
                </a:solidFill>
                <a:latin typeface="Calibri"/>
                <a:ea typeface="Calibri"/>
                <a:cs typeface="Calibri"/>
                <a:sym typeface="Calibri"/>
              </a:rPr>
              <a:t>FLIGHTS</a:t>
            </a:r>
            <a:endParaRPr/>
          </a:p>
        </p:txBody>
      </p:sp>
      <p:sp>
        <p:nvSpPr>
          <p:cNvPr id="118" name="Google Shape;118;p8"/>
          <p:cNvSpPr txBox="1"/>
          <p:nvPr/>
        </p:nvSpPr>
        <p:spPr>
          <a:xfrm>
            <a:off x="822959" y="2331720"/>
            <a:ext cx="2215134" cy="3383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• Flight ID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• Source / destination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• Date &amp; time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• Available seats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• Delay information</a:t>
            </a:r>
            <a:endParaRPr/>
          </a:p>
        </p:txBody>
      </p:sp>
      <p:sp>
        <p:nvSpPr>
          <p:cNvPr id="119" name="Google Shape;119;p8"/>
          <p:cNvSpPr/>
          <p:nvPr/>
        </p:nvSpPr>
        <p:spPr>
          <a:xfrm>
            <a:off x="3422141" y="1508760"/>
            <a:ext cx="2580894" cy="45262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8"/>
          <p:cNvSpPr txBox="1"/>
          <p:nvPr/>
        </p:nvSpPr>
        <p:spPr>
          <a:xfrm>
            <a:off x="3605022" y="1737360"/>
            <a:ext cx="2215134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1E40AF"/>
                </a:solidFill>
                <a:latin typeface="Calibri"/>
                <a:ea typeface="Calibri"/>
                <a:cs typeface="Calibri"/>
                <a:sym typeface="Calibri"/>
              </a:rPr>
              <a:t>PASSENGERS</a:t>
            </a:r>
            <a:endParaRPr/>
          </a:p>
        </p:txBody>
      </p:sp>
      <p:sp>
        <p:nvSpPr>
          <p:cNvPr id="121" name="Google Shape;121;p8"/>
          <p:cNvSpPr txBox="1"/>
          <p:nvPr/>
        </p:nvSpPr>
        <p:spPr>
          <a:xfrm>
            <a:off x="3605022" y="2331720"/>
            <a:ext cx="2215134" cy="3383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• Passenger ID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• Name/contact details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• Booking information</a:t>
            </a:r>
            <a:endParaRPr/>
          </a:p>
        </p:txBody>
      </p:sp>
      <p:sp>
        <p:nvSpPr>
          <p:cNvPr id="122" name="Google Shape;122;p8"/>
          <p:cNvSpPr/>
          <p:nvPr/>
        </p:nvSpPr>
        <p:spPr>
          <a:xfrm>
            <a:off x="6204204" y="1508760"/>
            <a:ext cx="2580894" cy="45262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8"/>
          <p:cNvSpPr txBox="1"/>
          <p:nvPr/>
        </p:nvSpPr>
        <p:spPr>
          <a:xfrm>
            <a:off x="6387084" y="1737360"/>
            <a:ext cx="2215134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1E40AF"/>
                </a:solidFill>
                <a:latin typeface="Calibri"/>
                <a:ea typeface="Calibri"/>
                <a:cs typeface="Calibri"/>
                <a:sym typeface="Calibri"/>
              </a:rPr>
              <a:t>BOOKINGS</a:t>
            </a:r>
            <a:endParaRPr/>
          </a:p>
        </p:txBody>
      </p:sp>
      <p:sp>
        <p:nvSpPr>
          <p:cNvPr id="124" name="Google Shape;124;p8"/>
          <p:cNvSpPr txBox="1"/>
          <p:nvPr/>
        </p:nvSpPr>
        <p:spPr>
          <a:xfrm>
            <a:off x="6387084" y="2331720"/>
            <a:ext cx="2215134" cy="3383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• Booking ID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• Passenger ID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• Flight ID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• Seat / status</a:t>
            </a:r>
            <a:endParaRPr/>
          </a:p>
        </p:txBody>
      </p:sp>
      <p:sp>
        <p:nvSpPr>
          <p:cNvPr id="125" name="Google Shape;125;p8"/>
          <p:cNvSpPr/>
          <p:nvPr/>
        </p:nvSpPr>
        <p:spPr>
          <a:xfrm>
            <a:off x="8986265" y="1508760"/>
            <a:ext cx="2580894" cy="45262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8"/>
          <p:cNvSpPr txBox="1"/>
          <p:nvPr/>
        </p:nvSpPr>
        <p:spPr>
          <a:xfrm>
            <a:off x="9169145" y="1737360"/>
            <a:ext cx="2215134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1E40AF"/>
                </a:solidFill>
                <a:latin typeface="Calibri"/>
                <a:ea typeface="Calibri"/>
                <a:cs typeface="Calibri"/>
                <a:sym typeface="Calibri"/>
              </a:rPr>
              <a:t>AIRPORTS</a:t>
            </a:r>
            <a:endParaRPr/>
          </a:p>
        </p:txBody>
      </p:sp>
      <p:sp>
        <p:nvSpPr>
          <p:cNvPr id="127" name="Google Shape;127;p8"/>
          <p:cNvSpPr txBox="1"/>
          <p:nvPr/>
        </p:nvSpPr>
        <p:spPr>
          <a:xfrm>
            <a:off x="9169145" y="2331720"/>
            <a:ext cx="2215134" cy="3383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• Airport ID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• Airport name/code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• Location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• Linked flights</a:t>
            </a:r>
            <a:endParaRPr/>
          </a:p>
        </p:txBody>
      </p:sp>
      <p:pic>
        <p:nvPicPr>
          <p:cNvPr id="128" name="Google Shape;128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22669" y="-684081"/>
            <a:ext cx="2384875" cy="2384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9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9"/>
          <p:cNvSpPr txBox="1"/>
          <p:nvPr/>
        </p:nvSpPr>
        <p:spPr>
          <a:xfrm>
            <a:off x="640080" y="365760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MATRIX / CALCULATIONS</a:t>
            </a:r>
            <a:endParaRPr/>
          </a:p>
        </p:txBody>
      </p:sp>
      <p:sp>
        <p:nvSpPr>
          <p:cNvPr id="135" name="Google Shape;135;p9"/>
          <p:cNvSpPr txBox="1"/>
          <p:nvPr/>
        </p:nvSpPr>
        <p:spPr>
          <a:xfrm>
            <a:off x="640080" y="914400"/>
            <a:ext cx="10972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Operational metrics are calculated from booking, seat, flight and delay data.</a:t>
            </a:r>
            <a:endParaRPr/>
          </a:p>
        </p:txBody>
      </p:sp>
      <p:sp>
        <p:nvSpPr>
          <p:cNvPr id="136" name="Google Shape;136;p9"/>
          <p:cNvSpPr/>
          <p:nvPr/>
        </p:nvSpPr>
        <p:spPr>
          <a:xfrm>
            <a:off x="640080" y="1508760"/>
            <a:ext cx="2580894" cy="45262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9"/>
          <p:cNvSpPr txBox="1"/>
          <p:nvPr/>
        </p:nvSpPr>
        <p:spPr>
          <a:xfrm>
            <a:off x="822959" y="1737360"/>
            <a:ext cx="2215134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1E40AF"/>
                </a:solidFill>
                <a:latin typeface="Calibri"/>
                <a:ea typeface="Calibri"/>
                <a:cs typeface="Calibri"/>
                <a:sym typeface="Calibri"/>
              </a:rPr>
              <a:t>BOOKING COUNT</a:t>
            </a:r>
            <a:endParaRPr/>
          </a:p>
        </p:txBody>
      </p:sp>
      <p:sp>
        <p:nvSpPr>
          <p:cNvPr id="138" name="Google Shape;138;p9"/>
          <p:cNvSpPr txBox="1"/>
          <p:nvPr/>
        </p:nvSpPr>
        <p:spPr>
          <a:xfrm>
            <a:off x="822959" y="2331720"/>
            <a:ext cx="2215134" cy="3383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Daily bookings = COUNT(Bookings)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1150" u="none" cap="none" strike="noStrike"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Route bookings = COUNT(Bookings) grouped by source &amp; destination</a:t>
            </a:r>
            <a:endParaRPr/>
          </a:p>
        </p:txBody>
      </p:sp>
      <p:sp>
        <p:nvSpPr>
          <p:cNvPr id="139" name="Google Shape;139;p9"/>
          <p:cNvSpPr/>
          <p:nvPr/>
        </p:nvSpPr>
        <p:spPr>
          <a:xfrm>
            <a:off x="3422141" y="1508760"/>
            <a:ext cx="2580894" cy="45262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9"/>
          <p:cNvSpPr txBox="1"/>
          <p:nvPr/>
        </p:nvSpPr>
        <p:spPr>
          <a:xfrm>
            <a:off x="3605022" y="1737360"/>
            <a:ext cx="2215134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1E40AF"/>
                </a:solidFill>
                <a:latin typeface="Calibri"/>
                <a:ea typeface="Calibri"/>
                <a:cs typeface="Calibri"/>
                <a:sym typeface="Calibri"/>
              </a:rPr>
              <a:t>SEAT UTILIZATION</a:t>
            </a:r>
            <a:endParaRPr/>
          </a:p>
        </p:txBody>
      </p:sp>
      <p:sp>
        <p:nvSpPr>
          <p:cNvPr id="141" name="Google Shape;141;p9"/>
          <p:cNvSpPr txBox="1"/>
          <p:nvPr/>
        </p:nvSpPr>
        <p:spPr>
          <a:xfrm>
            <a:off x="3605022" y="2331720"/>
            <a:ext cx="2215134" cy="3383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Seat utilization (%) =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Booked seats ÷ Total seats × 100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1150" u="none" cap="none" strike="noStrike"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Measures how full each flight is.</a:t>
            </a:r>
            <a:endParaRPr/>
          </a:p>
        </p:txBody>
      </p:sp>
      <p:sp>
        <p:nvSpPr>
          <p:cNvPr id="142" name="Google Shape;142;p9"/>
          <p:cNvSpPr/>
          <p:nvPr/>
        </p:nvSpPr>
        <p:spPr>
          <a:xfrm>
            <a:off x="6204204" y="1508760"/>
            <a:ext cx="2580894" cy="45262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9"/>
          <p:cNvSpPr txBox="1"/>
          <p:nvPr/>
        </p:nvSpPr>
        <p:spPr>
          <a:xfrm>
            <a:off x="6387084" y="1737360"/>
            <a:ext cx="2215134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1E40AF"/>
                </a:solidFill>
                <a:latin typeface="Calibri"/>
                <a:ea typeface="Calibri"/>
                <a:cs typeface="Calibri"/>
                <a:sym typeface="Calibri"/>
              </a:rPr>
              <a:t>ON-TIME RATE</a:t>
            </a:r>
            <a:endParaRPr/>
          </a:p>
        </p:txBody>
      </p:sp>
      <p:sp>
        <p:nvSpPr>
          <p:cNvPr id="144" name="Google Shape;144;p9"/>
          <p:cNvSpPr txBox="1"/>
          <p:nvPr/>
        </p:nvSpPr>
        <p:spPr>
          <a:xfrm>
            <a:off x="6387084" y="2331720"/>
            <a:ext cx="2215134" cy="3383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On-time rate (%) =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On-time flights ÷ Total flights × 100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1150" u="none" cap="none" strike="noStrike"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Uses flight delay information.</a:t>
            </a:r>
            <a:endParaRPr/>
          </a:p>
        </p:txBody>
      </p:sp>
      <p:sp>
        <p:nvSpPr>
          <p:cNvPr id="145" name="Google Shape;145;p9"/>
          <p:cNvSpPr/>
          <p:nvPr/>
        </p:nvSpPr>
        <p:spPr>
          <a:xfrm>
            <a:off x="8986265" y="1508760"/>
            <a:ext cx="2580894" cy="45262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9"/>
          <p:cNvSpPr txBox="1"/>
          <p:nvPr/>
        </p:nvSpPr>
        <p:spPr>
          <a:xfrm>
            <a:off x="9169145" y="1737360"/>
            <a:ext cx="2215134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1E40AF"/>
                </a:solidFill>
                <a:latin typeface="Calibri"/>
                <a:ea typeface="Calibri"/>
                <a:cs typeface="Calibri"/>
                <a:sym typeface="Calibri"/>
              </a:rPr>
              <a:t>ROUTE ANALYSIS</a:t>
            </a:r>
            <a:endParaRPr/>
          </a:p>
        </p:txBody>
      </p:sp>
      <p:sp>
        <p:nvSpPr>
          <p:cNvPr id="147" name="Google Shape;147;p9"/>
          <p:cNvSpPr txBox="1"/>
          <p:nvPr/>
        </p:nvSpPr>
        <p:spPr>
          <a:xfrm>
            <a:off x="9169145" y="2331720"/>
            <a:ext cx="2215134" cy="3383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For each route calculate: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• Total bookings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• Delay count/average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• Seat utilization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1150" u="none" cap="none" strike="noStrike"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Rank routes by demand.</a:t>
            </a:r>
            <a:endParaRPr/>
          </a:p>
        </p:txBody>
      </p:sp>
      <p:pic>
        <p:nvPicPr>
          <p:cNvPr id="148" name="Google Shape;148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22669" y="-684081"/>
            <a:ext cx="2384875" cy="2384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0"/>
          <p:cNvSpPr txBox="1"/>
          <p:nvPr/>
        </p:nvSpPr>
        <p:spPr>
          <a:xfrm>
            <a:off x="822960" y="54864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711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A9711F"/>
                </a:solidFill>
                <a:latin typeface="Calibri"/>
                <a:ea typeface="Calibri"/>
                <a:cs typeface="Calibri"/>
                <a:sym typeface="Calibri"/>
              </a:rPr>
              <a:t>TECHNOLOGY USED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0"/>
          <p:cNvSpPr txBox="1"/>
          <p:nvPr/>
        </p:nvSpPr>
        <p:spPr>
          <a:xfrm>
            <a:off x="822960" y="914400"/>
            <a:ext cx="10515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3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6233F"/>
                </a:solidFill>
                <a:latin typeface="Cambria"/>
                <a:ea typeface="Cambria"/>
                <a:cs typeface="Cambria"/>
                <a:sym typeface="Cambria"/>
              </a:rPr>
              <a:t>Built with simple, proven tools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0"/>
          <p:cNvSpPr txBox="1"/>
          <p:nvPr/>
        </p:nvSpPr>
        <p:spPr>
          <a:xfrm>
            <a:off x="822960" y="2103120"/>
            <a:ext cx="3429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711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A9711F"/>
                </a:solidFill>
                <a:latin typeface="Calibri"/>
                <a:ea typeface="Calibri"/>
                <a:cs typeface="Calibri"/>
                <a:sym typeface="Calibri"/>
              </a:rPr>
              <a:t>Frontend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0"/>
          <p:cNvSpPr txBox="1"/>
          <p:nvPr/>
        </p:nvSpPr>
        <p:spPr>
          <a:xfrm>
            <a:off x="822960" y="2651760"/>
            <a:ext cx="3429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HTML, CSS, JS for the screens.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0"/>
          <p:cNvSpPr txBox="1"/>
          <p:nvPr/>
        </p:nvSpPr>
        <p:spPr>
          <a:xfrm>
            <a:off x="822960" y="3429000"/>
            <a:ext cx="3429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Bootstrap for a clean, simple look.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0"/>
          <p:cNvSpPr txBox="1"/>
          <p:nvPr/>
        </p:nvSpPr>
        <p:spPr>
          <a:xfrm>
            <a:off x="822960" y="4206240"/>
            <a:ext cx="3429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Works on phone and computer.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0" name="Google Shape;160;p10"/>
          <p:cNvCxnSpPr/>
          <p:nvPr/>
        </p:nvCxnSpPr>
        <p:spPr>
          <a:xfrm>
            <a:off x="4434840" y="2103120"/>
            <a:ext cx="0" cy="3657600"/>
          </a:xfrm>
          <a:prstGeom prst="straightConnector1">
            <a:avLst/>
          </a:prstGeom>
          <a:noFill/>
          <a:ln cap="flat" cmpd="sng" w="12700">
            <a:solidFill>
              <a:srgbClr val="E3E6E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1" name="Google Shape;161;p10"/>
          <p:cNvSpPr txBox="1"/>
          <p:nvPr/>
        </p:nvSpPr>
        <p:spPr>
          <a:xfrm>
            <a:off x="4617720" y="2103120"/>
            <a:ext cx="3429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711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A9711F"/>
                </a:solidFill>
                <a:latin typeface="Calibri"/>
                <a:ea typeface="Calibri"/>
                <a:cs typeface="Calibri"/>
                <a:sym typeface="Calibri"/>
              </a:rPr>
              <a:t>Backend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0"/>
          <p:cNvSpPr txBox="1"/>
          <p:nvPr/>
        </p:nvSpPr>
        <p:spPr>
          <a:xfrm>
            <a:off x="4617720" y="2651760"/>
            <a:ext cx="3429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Python runs the main logic.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0"/>
          <p:cNvSpPr txBox="1"/>
          <p:nvPr/>
        </p:nvSpPr>
        <p:spPr>
          <a:xfrm>
            <a:off x="4617720" y="3429000"/>
            <a:ext cx="3429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Flask handles requests from the site.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0"/>
          <p:cNvSpPr txBox="1"/>
          <p:nvPr/>
        </p:nvSpPr>
        <p:spPr>
          <a:xfrm>
            <a:off x="4617720" y="4206240"/>
            <a:ext cx="3429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Connects safely to the database.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5" name="Google Shape;165;p10"/>
          <p:cNvCxnSpPr/>
          <p:nvPr/>
        </p:nvCxnSpPr>
        <p:spPr>
          <a:xfrm>
            <a:off x="8229600" y="2103120"/>
            <a:ext cx="0" cy="3657600"/>
          </a:xfrm>
          <a:prstGeom prst="straightConnector1">
            <a:avLst/>
          </a:prstGeom>
          <a:noFill/>
          <a:ln cap="flat" cmpd="sng" w="12700">
            <a:solidFill>
              <a:srgbClr val="E3E6E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6" name="Google Shape;166;p10"/>
          <p:cNvSpPr txBox="1"/>
          <p:nvPr/>
        </p:nvSpPr>
        <p:spPr>
          <a:xfrm>
            <a:off x="8412480" y="2103120"/>
            <a:ext cx="3429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711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A9711F"/>
                </a:solidFill>
                <a:latin typeface="Calibri"/>
                <a:ea typeface="Calibri"/>
                <a:cs typeface="Calibri"/>
                <a:sym typeface="Calibri"/>
              </a:rPr>
              <a:t>Database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0"/>
          <p:cNvSpPr txBox="1"/>
          <p:nvPr/>
        </p:nvSpPr>
        <p:spPr>
          <a:xfrm>
            <a:off x="8412480" y="2651760"/>
            <a:ext cx="3429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MySQL stores flights and bookings.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0"/>
          <p:cNvSpPr txBox="1"/>
          <p:nvPr/>
        </p:nvSpPr>
        <p:spPr>
          <a:xfrm>
            <a:off x="8412480" y="3429000"/>
            <a:ext cx="3429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Workbench for simple table design.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0"/>
          <p:cNvSpPr txBox="1"/>
          <p:nvPr/>
        </p:nvSpPr>
        <p:spPr>
          <a:xfrm>
            <a:off x="8412480" y="4206240"/>
            <a:ext cx="3429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Handles reports and searches.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0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1" name="Google Shape;171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22669" y="-684081"/>
            <a:ext cx="2384875" cy="2384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1"/>
          <p:cNvSpPr txBox="1"/>
          <p:nvPr/>
        </p:nvSpPr>
        <p:spPr>
          <a:xfrm>
            <a:off x="822960" y="548640"/>
            <a:ext cx="7315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711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A9711F"/>
                </a:solidFill>
                <a:latin typeface="Calibri"/>
                <a:ea typeface="Calibri"/>
                <a:cs typeface="Calibri"/>
                <a:sym typeface="Calibri"/>
              </a:rPr>
              <a:t>DATABASE DESIGN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1"/>
          <p:cNvSpPr txBox="1"/>
          <p:nvPr/>
        </p:nvSpPr>
        <p:spPr>
          <a:xfrm>
            <a:off x="822960" y="914400"/>
            <a:ext cx="105156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3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6233F"/>
                </a:solidFill>
                <a:latin typeface="Cambria"/>
                <a:ea typeface="Cambria"/>
                <a:cs typeface="Cambria"/>
                <a:sym typeface="Cambria"/>
              </a:rPr>
              <a:t>How the data connects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1"/>
          <p:cNvSpPr txBox="1"/>
          <p:nvPr/>
        </p:nvSpPr>
        <p:spPr>
          <a:xfrm>
            <a:off x="822960" y="2148840"/>
            <a:ext cx="51207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3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6233F"/>
                </a:solidFill>
                <a:latin typeface="Calibri"/>
                <a:ea typeface="Calibri"/>
                <a:cs typeface="Calibri"/>
                <a:sym typeface="Calibri"/>
              </a:rPr>
              <a:t>Linked tables  </a:t>
            </a:r>
            <a:r>
              <a:rPr b="0" i="0" lang="en-US" sz="13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Flights, Passengers, Bookings, and Airports are joined with keys.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1"/>
          <p:cNvSpPr txBox="1"/>
          <p:nvPr/>
        </p:nvSpPr>
        <p:spPr>
          <a:xfrm>
            <a:off x="822960" y="3017520"/>
            <a:ext cx="51207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3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6233F"/>
                </a:solidFill>
                <a:latin typeface="Calibri"/>
                <a:ea typeface="Calibri"/>
                <a:cs typeface="Calibri"/>
                <a:sym typeface="Calibri"/>
              </a:rPr>
              <a:t>Basic actions  </a:t>
            </a:r>
            <a:r>
              <a:rPr b="0" i="0" lang="en-US" sz="13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Simple steps to add, update, delete, or search a booking.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1"/>
          <p:cNvSpPr txBox="1"/>
          <p:nvPr/>
        </p:nvSpPr>
        <p:spPr>
          <a:xfrm>
            <a:off x="822960" y="3886200"/>
            <a:ext cx="51207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3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6233F"/>
                </a:solidFill>
                <a:latin typeface="Calibri"/>
                <a:ea typeface="Calibri"/>
                <a:cs typeface="Calibri"/>
                <a:sym typeface="Calibri"/>
              </a:rPr>
              <a:t>Smart reports  </a:t>
            </a:r>
            <a:r>
              <a:rPr b="0" i="0" lang="en-US" sz="13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Joins and totals show busiest routes and daily booking counts.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1"/>
          <p:cNvSpPr txBox="1"/>
          <p:nvPr/>
        </p:nvSpPr>
        <p:spPr>
          <a:xfrm>
            <a:off x="822960" y="4754880"/>
            <a:ext cx="51207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3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6233F"/>
                </a:solidFill>
                <a:latin typeface="Calibri"/>
                <a:ea typeface="Calibri"/>
                <a:cs typeface="Calibri"/>
                <a:sym typeface="Calibri"/>
              </a:rPr>
              <a:t>Fast and safe  </a:t>
            </a:r>
            <a:r>
              <a:rPr b="0" i="0" lang="en-US" sz="13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Views and saved steps keep reports quick and data protected.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3" name="Google Shape;183;p11"/>
          <p:cNvCxnSpPr/>
          <p:nvPr/>
        </p:nvCxnSpPr>
        <p:spPr>
          <a:xfrm>
            <a:off x="7452360" y="2400300"/>
            <a:ext cx="1234500" cy="1371600"/>
          </a:xfrm>
          <a:prstGeom prst="straightConnector1">
            <a:avLst/>
          </a:prstGeom>
          <a:noFill/>
          <a:ln cap="flat" cmpd="sng" w="19050">
            <a:solidFill>
              <a:srgbClr val="E3E6E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4" name="Google Shape;184;p11"/>
          <p:cNvCxnSpPr/>
          <p:nvPr/>
        </p:nvCxnSpPr>
        <p:spPr>
          <a:xfrm flipH="1">
            <a:off x="8686740" y="2400300"/>
            <a:ext cx="1234500" cy="1371600"/>
          </a:xfrm>
          <a:prstGeom prst="straightConnector1">
            <a:avLst/>
          </a:prstGeom>
          <a:noFill/>
          <a:ln cap="flat" cmpd="sng" w="19050">
            <a:solidFill>
              <a:srgbClr val="E3E6E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5" name="Google Shape;185;p11"/>
          <p:cNvCxnSpPr/>
          <p:nvPr/>
        </p:nvCxnSpPr>
        <p:spPr>
          <a:xfrm>
            <a:off x="8686800" y="3771900"/>
            <a:ext cx="9000" cy="1371600"/>
          </a:xfrm>
          <a:prstGeom prst="straightConnector1">
            <a:avLst/>
          </a:prstGeom>
          <a:noFill/>
          <a:ln cap="flat" cmpd="sng" w="19050">
            <a:solidFill>
              <a:srgbClr val="E3E6E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6" name="Google Shape;186;p11"/>
          <p:cNvSpPr/>
          <p:nvPr/>
        </p:nvSpPr>
        <p:spPr>
          <a:xfrm>
            <a:off x="6492240" y="2103120"/>
            <a:ext cx="1920300" cy="5943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A971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1"/>
          <p:cNvSpPr txBox="1"/>
          <p:nvPr/>
        </p:nvSpPr>
        <p:spPr>
          <a:xfrm>
            <a:off x="6492240" y="1994535"/>
            <a:ext cx="19203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233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6233F"/>
                </a:solidFill>
                <a:latin typeface="Calibri"/>
                <a:ea typeface="Calibri"/>
                <a:cs typeface="Calibri"/>
                <a:sym typeface="Calibri"/>
              </a:rPr>
              <a:t>Airports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1"/>
          <p:cNvSpPr/>
          <p:nvPr/>
        </p:nvSpPr>
        <p:spPr>
          <a:xfrm>
            <a:off x="8961120" y="2103120"/>
            <a:ext cx="1920300" cy="5943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A971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1"/>
          <p:cNvSpPr txBox="1"/>
          <p:nvPr/>
        </p:nvSpPr>
        <p:spPr>
          <a:xfrm>
            <a:off x="8961120" y="2103120"/>
            <a:ext cx="19203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233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6233F"/>
                </a:solidFill>
                <a:latin typeface="Calibri"/>
                <a:ea typeface="Calibri"/>
                <a:cs typeface="Calibri"/>
                <a:sym typeface="Calibri"/>
              </a:rPr>
              <a:t>Flights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1"/>
          <p:cNvSpPr/>
          <p:nvPr/>
        </p:nvSpPr>
        <p:spPr>
          <a:xfrm>
            <a:off x="7726680" y="3474720"/>
            <a:ext cx="1920300" cy="5943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A971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1"/>
          <p:cNvSpPr txBox="1"/>
          <p:nvPr/>
        </p:nvSpPr>
        <p:spPr>
          <a:xfrm>
            <a:off x="7726680" y="3474720"/>
            <a:ext cx="19203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233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6233F"/>
                </a:solidFill>
                <a:latin typeface="Calibri"/>
                <a:ea typeface="Calibri"/>
                <a:cs typeface="Calibri"/>
                <a:sym typeface="Calibri"/>
              </a:rPr>
              <a:t>Bookings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1"/>
          <p:cNvSpPr/>
          <p:nvPr/>
        </p:nvSpPr>
        <p:spPr>
          <a:xfrm>
            <a:off x="7726680" y="4846320"/>
            <a:ext cx="1920300" cy="5943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A971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1"/>
          <p:cNvSpPr txBox="1"/>
          <p:nvPr/>
        </p:nvSpPr>
        <p:spPr>
          <a:xfrm>
            <a:off x="7726680" y="4846320"/>
            <a:ext cx="19203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233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6233F"/>
                </a:solidFill>
                <a:latin typeface="Calibri"/>
                <a:ea typeface="Calibri"/>
                <a:cs typeface="Calibri"/>
                <a:sym typeface="Calibri"/>
              </a:rPr>
              <a:t>Passengers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1"/>
          <p:cNvSpPr txBox="1"/>
          <p:nvPr/>
        </p:nvSpPr>
        <p:spPr>
          <a:xfrm>
            <a:off x="11430000" y="6446520"/>
            <a:ext cx="548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5" name="Google Shape;195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22669" y="-684081"/>
            <a:ext cx="2384875" cy="2384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2"/>
          <p:cNvSpPr txBox="1"/>
          <p:nvPr/>
        </p:nvSpPr>
        <p:spPr>
          <a:xfrm>
            <a:off x="822960" y="54864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711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A9711F"/>
                </a:solidFill>
                <a:latin typeface="Calibri"/>
                <a:ea typeface="Calibri"/>
                <a:cs typeface="Calibri"/>
                <a:sym typeface="Calibri"/>
              </a:rPr>
              <a:t>EXPECTED OUTCOMES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2"/>
          <p:cNvSpPr txBox="1"/>
          <p:nvPr/>
        </p:nvSpPr>
        <p:spPr>
          <a:xfrm>
            <a:off x="822960" y="914400"/>
            <a:ext cx="10515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3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6233F"/>
                </a:solidFill>
                <a:latin typeface="Cambria"/>
                <a:ea typeface="Cambria"/>
                <a:cs typeface="Cambria"/>
                <a:sym typeface="Cambria"/>
              </a:rPr>
              <a:t>What this system delivers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2"/>
          <p:cNvSpPr txBox="1"/>
          <p:nvPr/>
        </p:nvSpPr>
        <p:spPr>
          <a:xfrm>
            <a:off x="822960" y="2286000"/>
            <a:ext cx="640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711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A9711F"/>
                </a:solidFill>
                <a:latin typeface="Cambria"/>
                <a:ea typeface="Cambria"/>
                <a:cs typeface="Cambria"/>
                <a:sym typeface="Cambria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2"/>
          <p:cNvSpPr txBox="1"/>
          <p:nvPr/>
        </p:nvSpPr>
        <p:spPr>
          <a:xfrm>
            <a:off x="1463040" y="2286000"/>
            <a:ext cx="960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3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6233F"/>
                </a:solidFill>
                <a:latin typeface="Calibri"/>
                <a:ea typeface="Calibri"/>
                <a:cs typeface="Calibri"/>
                <a:sym typeface="Calibri"/>
              </a:rPr>
              <a:t>Faster booking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2"/>
          <p:cNvSpPr txBox="1"/>
          <p:nvPr/>
        </p:nvSpPr>
        <p:spPr>
          <a:xfrm>
            <a:off x="1463040" y="2651760"/>
            <a:ext cx="9601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Passengers can book a ticket in just a few clicks, with no long waits.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2"/>
          <p:cNvSpPr txBox="1"/>
          <p:nvPr/>
        </p:nvSpPr>
        <p:spPr>
          <a:xfrm>
            <a:off x="822960" y="3520440"/>
            <a:ext cx="640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711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A9711F"/>
                </a:solidFill>
                <a:latin typeface="Cambria"/>
                <a:ea typeface="Cambria"/>
                <a:cs typeface="Cambria"/>
                <a:sym typeface="Cambria"/>
              </a:rPr>
              <a:t>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2"/>
          <p:cNvSpPr txBox="1"/>
          <p:nvPr/>
        </p:nvSpPr>
        <p:spPr>
          <a:xfrm>
            <a:off x="1463040" y="3520440"/>
            <a:ext cx="960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3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6233F"/>
                </a:solidFill>
                <a:latin typeface="Calibri"/>
                <a:ea typeface="Calibri"/>
                <a:cs typeface="Calibri"/>
                <a:sym typeface="Calibri"/>
              </a:rPr>
              <a:t>Fewer mistakes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2"/>
          <p:cNvSpPr txBox="1"/>
          <p:nvPr/>
        </p:nvSpPr>
        <p:spPr>
          <a:xfrm>
            <a:off x="1463040" y="3886200"/>
            <a:ext cx="9601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One shared system removes double bookings and wrong seat data.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2"/>
          <p:cNvSpPr txBox="1"/>
          <p:nvPr/>
        </p:nvSpPr>
        <p:spPr>
          <a:xfrm>
            <a:off x="822960" y="4754880"/>
            <a:ext cx="640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711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A9711F"/>
                </a:solidFill>
                <a:latin typeface="Cambria"/>
                <a:ea typeface="Cambria"/>
                <a:cs typeface="Cambria"/>
                <a:sym typeface="Cambria"/>
              </a:rPr>
              <a:t>03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2"/>
          <p:cNvSpPr txBox="1"/>
          <p:nvPr/>
        </p:nvSpPr>
        <p:spPr>
          <a:xfrm>
            <a:off x="1463040" y="4754880"/>
            <a:ext cx="960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3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6233F"/>
                </a:solidFill>
                <a:latin typeface="Calibri"/>
                <a:ea typeface="Calibri"/>
                <a:cs typeface="Calibri"/>
                <a:sym typeface="Calibri"/>
              </a:rPr>
              <a:t>Better planning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2"/>
          <p:cNvSpPr txBox="1"/>
          <p:nvPr/>
        </p:nvSpPr>
        <p:spPr>
          <a:xfrm>
            <a:off x="1463040" y="5120640"/>
            <a:ext cx="9601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Airline and airport teams see live reports to plan flights and staff.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2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3" name="Google Shape;213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22669" y="-684081"/>
            <a:ext cx="2384875" cy="2384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9" name="Google Shape;219;p13"/>
          <p:cNvCxnSpPr/>
          <p:nvPr/>
        </p:nvCxnSpPr>
        <p:spPr>
          <a:xfrm>
            <a:off x="5358384" y="3063240"/>
            <a:ext cx="822960" cy="0"/>
          </a:xfrm>
          <a:prstGeom prst="straightConnector1">
            <a:avLst/>
          </a:prstGeom>
          <a:noFill/>
          <a:ln cap="flat" cmpd="sng" w="25400">
            <a:solidFill>
              <a:srgbClr val="A9711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0" name="Google Shape;220;p13"/>
          <p:cNvSpPr txBox="1"/>
          <p:nvPr/>
        </p:nvSpPr>
        <p:spPr>
          <a:xfrm>
            <a:off x="0" y="3200400"/>
            <a:ext cx="12188952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233F"/>
              </a:buClr>
              <a:buSzPts val="3800"/>
              <a:buFont typeface="Cambria"/>
              <a:buNone/>
            </a:pPr>
            <a:r>
              <a:rPr b="1" i="0" lang="en-US" sz="3800" u="none" cap="none" strike="noStrike">
                <a:solidFill>
                  <a:srgbClr val="16233F"/>
                </a:solidFill>
                <a:latin typeface="Cambria"/>
                <a:ea typeface="Cambria"/>
                <a:cs typeface="Cambria"/>
                <a:sym typeface="Cambria"/>
              </a:rPr>
              <a:t>Thank You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3"/>
          <p:cNvSpPr txBox="1"/>
          <p:nvPr/>
        </p:nvSpPr>
        <p:spPr>
          <a:xfrm>
            <a:off x="0" y="4023360"/>
            <a:ext cx="1218895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Flight Booking Management &amp; Analytics Portal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2" name="Google Shape;222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22669" y="-684081"/>
            <a:ext cx="2384875" cy="2384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