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2" Type="http://schemas.openxmlformats.org/officeDocument/2006/relationships/slide" Target="slides/slide8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" name="Google Shape;5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>
            <a:off x="822960" y="1417320"/>
            <a:ext cx="822960" cy="0"/>
          </a:xfrm>
          <a:prstGeom prst="straightConnector1">
            <a:avLst/>
          </a:prstGeom>
          <a:noFill/>
          <a:ln cap="flat" cmpd="sng" w="25400">
            <a:solidFill>
              <a:srgbClr val="A9711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" name="Google Shape;17;p3"/>
          <p:cNvSpPr txBox="1"/>
          <p:nvPr/>
        </p:nvSpPr>
        <p:spPr>
          <a:xfrm>
            <a:off x="822960" y="16002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711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A9711F"/>
                </a:solidFill>
                <a:latin typeface="Calibri"/>
                <a:ea typeface="Calibri"/>
                <a:cs typeface="Calibri"/>
                <a:sym typeface="Calibri"/>
              </a:rPr>
              <a:t>AIRLINE &amp; AIRPORT OPERATIONS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 txBox="1"/>
          <p:nvPr/>
        </p:nvSpPr>
        <p:spPr>
          <a:xfrm>
            <a:off x="822960" y="2011680"/>
            <a:ext cx="987552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6233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16233F"/>
                </a:solidFill>
                <a:latin typeface="Cambria"/>
                <a:ea typeface="Cambria"/>
                <a:cs typeface="Cambria"/>
                <a:sym typeface="Cambria"/>
              </a:rPr>
              <a:t>Flight Booking Management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6233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16233F"/>
                </a:solidFill>
                <a:latin typeface="Cambria"/>
                <a:ea typeface="Cambria"/>
                <a:cs typeface="Cambria"/>
                <a:sym typeface="Cambria"/>
              </a:rPr>
              <a:t>&amp; Analytics Portal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 txBox="1"/>
          <p:nvPr/>
        </p:nvSpPr>
        <p:spPr>
          <a:xfrm>
            <a:off x="822960" y="3794760"/>
            <a:ext cx="7498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A single, easy system for airlines and airports to book flights, manage seats, and read flight data.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" name="Google Shape;20;p3"/>
          <p:cNvCxnSpPr/>
          <p:nvPr/>
        </p:nvCxnSpPr>
        <p:spPr>
          <a:xfrm>
            <a:off x="822960" y="5806440"/>
            <a:ext cx="10515600" cy="0"/>
          </a:xfrm>
          <a:prstGeom prst="straightConnector1">
            <a:avLst/>
          </a:prstGeom>
          <a:noFill/>
          <a:ln cap="flat" cmpd="sng" w="12700">
            <a:solidFill>
              <a:srgbClr val="E3E6E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" name="Google Shape;21;p3"/>
          <p:cNvSpPr txBox="1"/>
          <p:nvPr/>
        </p:nvSpPr>
        <p:spPr>
          <a:xfrm>
            <a:off x="822960" y="598932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3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6233F"/>
                </a:solidFill>
                <a:latin typeface="Calibri"/>
                <a:ea typeface="Calibri"/>
                <a:cs typeface="Calibri"/>
                <a:sym typeface="Calibri"/>
              </a:rPr>
              <a:t>Your Name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 txBox="1"/>
          <p:nvPr/>
        </p:nvSpPr>
        <p:spPr>
          <a:xfrm>
            <a:off x="822960" y="626364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Roll No: 2520090173 – ABHI SAI SAGAR MEKONDA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 txBox="1"/>
          <p:nvPr/>
        </p:nvSpPr>
        <p:spPr>
          <a:xfrm>
            <a:off x="7589520" y="6044739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3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6233F"/>
                </a:solidFill>
                <a:latin typeface="Calibri"/>
                <a:ea typeface="Calibri"/>
                <a:cs typeface="Calibri"/>
                <a:sym typeface="Calibri"/>
              </a:rPr>
              <a:t>Team Member Name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 txBox="1"/>
          <p:nvPr/>
        </p:nvSpPr>
        <p:spPr>
          <a:xfrm>
            <a:off x="4206240" y="626364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Roll No: 2520090148 – SAINATH LINGAMPALLY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 txBox="1"/>
          <p:nvPr/>
        </p:nvSpPr>
        <p:spPr>
          <a:xfrm>
            <a:off x="4358640" y="614172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3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6233F"/>
                </a:solidFill>
                <a:latin typeface="Calibri"/>
                <a:ea typeface="Calibri"/>
                <a:cs typeface="Calibri"/>
                <a:sym typeface="Calibri"/>
              </a:rPr>
              <a:t>Team Member Name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 txBox="1"/>
          <p:nvPr/>
        </p:nvSpPr>
        <p:spPr>
          <a:xfrm>
            <a:off x="7620000" y="6181899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3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6233F"/>
                </a:solidFill>
                <a:latin typeface="Calibri"/>
                <a:ea typeface="Calibri"/>
                <a:cs typeface="Calibri"/>
                <a:sym typeface="Calibri"/>
              </a:rPr>
              <a:t>Roll no – 2520090194 – NAMAN MASINENI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" name="Google Shape;27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22669" y="-684081"/>
            <a:ext cx="2384875" cy="2384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/>
        </p:nvSpPr>
        <p:spPr>
          <a:xfrm>
            <a:off x="822960" y="54864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711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A9711F"/>
                </a:solidFill>
                <a:latin typeface="Calibri"/>
                <a:ea typeface="Calibri"/>
                <a:cs typeface="Calibri"/>
                <a:sym typeface="Calibri"/>
              </a:rPr>
              <a:t>THE PROBLEM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 txBox="1"/>
          <p:nvPr/>
        </p:nvSpPr>
        <p:spPr>
          <a:xfrm>
            <a:off x="822960" y="914400"/>
            <a:ext cx="10515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3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6233F"/>
                </a:solidFill>
                <a:latin typeface="Cambria"/>
                <a:ea typeface="Cambria"/>
                <a:cs typeface="Cambria"/>
                <a:sym typeface="Cambria"/>
              </a:rPr>
              <a:t>Old booking systems slow everyone down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 txBox="1"/>
          <p:nvPr/>
        </p:nvSpPr>
        <p:spPr>
          <a:xfrm>
            <a:off x="822960" y="2148840"/>
            <a:ext cx="640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711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A9711F"/>
                </a:solidFill>
                <a:latin typeface="Cambria"/>
                <a:ea typeface="Cambria"/>
                <a:cs typeface="Cambria"/>
                <a:sym typeface="Cambria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 txBox="1"/>
          <p:nvPr/>
        </p:nvSpPr>
        <p:spPr>
          <a:xfrm>
            <a:off x="1463040" y="2148840"/>
            <a:ext cx="9418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3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6233F"/>
                </a:solidFill>
                <a:latin typeface="Calibri"/>
                <a:ea typeface="Calibri"/>
                <a:cs typeface="Calibri"/>
                <a:sym typeface="Calibri"/>
              </a:rPr>
              <a:t>Slow manual booking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 txBox="1"/>
          <p:nvPr/>
        </p:nvSpPr>
        <p:spPr>
          <a:xfrm>
            <a:off x="1463040" y="2514600"/>
            <a:ext cx="9418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Booking by hand takes too long and creates long queues at the counter.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 txBox="1"/>
          <p:nvPr/>
        </p:nvSpPr>
        <p:spPr>
          <a:xfrm>
            <a:off x="822960" y="3200400"/>
            <a:ext cx="640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711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A9711F"/>
                </a:solidFill>
                <a:latin typeface="Cambria"/>
                <a:ea typeface="Cambria"/>
                <a:cs typeface="Cambria"/>
                <a:sym typeface="Cambria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 txBox="1"/>
          <p:nvPr/>
        </p:nvSpPr>
        <p:spPr>
          <a:xfrm>
            <a:off x="1463040" y="3200400"/>
            <a:ext cx="9418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3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6233F"/>
                </a:solidFill>
                <a:latin typeface="Calibri"/>
                <a:ea typeface="Calibri"/>
                <a:cs typeface="Calibri"/>
                <a:sym typeface="Calibri"/>
              </a:rPr>
              <a:t>Scattered data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 txBox="1"/>
          <p:nvPr/>
        </p:nvSpPr>
        <p:spPr>
          <a:xfrm>
            <a:off x="1463040" y="3566160"/>
            <a:ext cx="9418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Flight, seat, and passenger records sit in different files and don't match up.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 txBox="1"/>
          <p:nvPr/>
        </p:nvSpPr>
        <p:spPr>
          <a:xfrm>
            <a:off x="822960" y="4251960"/>
            <a:ext cx="640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711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A9711F"/>
                </a:solidFill>
                <a:latin typeface="Cambria"/>
                <a:ea typeface="Cambria"/>
                <a:cs typeface="Cambria"/>
                <a:sym typeface="Cambria"/>
              </a:rPr>
              <a:t>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 txBox="1"/>
          <p:nvPr/>
        </p:nvSpPr>
        <p:spPr>
          <a:xfrm>
            <a:off x="1463040" y="4251960"/>
            <a:ext cx="9418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3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6233F"/>
                </a:solidFill>
                <a:latin typeface="Calibri"/>
                <a:ea typeface="Calibri"/>
                <a:cs typeface="Calibri"/>
                <a:sym typeface="Calibri"/>
              </a:rPr>
              <a:t>No live seat status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 txBox="1"/>
          <p:nvPr/>
        </p:nvSpPr>
        <p:spPr>
          <a:xfrm>
            <a:off x="1463040" y="4617720"/>
            <a:ext cx="9418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Staff can't see real seat numbers, so flights get overbooked by mistake.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 txBox="1"/>
          <p:nvPr/>
        </p:nvSpPr>
        <p:spPr>
          <a:xfrm>
            <a:off x="822960" y="5303520"/>
            <a:ext cx="640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711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A9711F"/>
                </a:solidFill>
                <a:latin typeface="Cambria"/>
                <a:ea typeface="Cambria"/>
                <a:cs typeface="Cambria"/>
                <a:sym typeface="Cambria"/>
              </a:rPr>
              <a:t>04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 txBox="1"/>
          <p:nvPr/>
        </p:nvSpPr>
        <p:spPr>
          <a:xfrm>
            <a:off x="1463040" y="5303520"/>
            <a:ext cx="9418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3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6233F"/>
                </a:solidFill>
                <a:latin typeface="Calibri"/>
                <a:ea typeface="Calibri"/>
                <a:cs typeface="Calibri"/>
                <a:sym typeface="Calibri"/>
              </a:rPr>
              <a:t>No easy reports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 txBox="1"/>
          <p:nvPr/>
        </p:nvSpPr>
        <p:spPr>
          <a:xfrm>
            <a:off x="1463040" y="5669280"/>
            <a:ext cx="9418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Checking delays, busy routes, or daily bookings takes far too much work.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8" name="Google Shape;48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22669" y="-684081"/>
            <a:ext cx="2384875" cy="2384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"/>
          <p:cNvSpPr txBox="1"/>
          <p:nvPr/>
        </p:nvSpPr>
        <p:spPr>
          <a:xfrm>
            <a:off x="822960" y="54864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711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A9711F"/>
                </a:solidFill>
                <a:latin typeface="Calibri"/>
                <a:ea typeface="Calibri"/>
                <a:cs typeface="Calibri"/>
                <a:sym typeface="Calibri"/>
              </a:rPr>
              <a:t>PROJECT ABSTRACT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 txBox="1"/>
          <p:nvPr/>
        </p:nvSpPr>
        <p:spPr>
          <a:xfrm>
            <a:off x="822960" y="914400"/>
            <a:ext cx="10515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3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6233F"/>
                </a:solidFill>
                <a:latin typeface="Cambria"/>
                <a:ea typeface="Cambria"/>
                <a:cs typeface="Cambria"/>
                <a:sym typeface="Cambria"/>
              </a:rPr>
              <a:t>One simple platform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6" name="Google Shape;56;p5"/>
          <p:cNvCxnSpPr/>
          <p:nvPr/>
        </p:nvCxnSpPr>
        <p:spPr>
          <a:xfrm>
            <a:off x="822960" y="2212848"/>
            <a:ext cx="201168" cy="0"/>
          </a:xfrm>
          <a:prstGeom prst="straightConnector1">
            <a:avLst/>
          </a:prstGeom>
          <a:noFill/>
          <a:ln cap="flat" cmpd="sng" w="19050">
            <a:solidFill>
              <a:srgbClr val="A9711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" name="Google Shape;57;p5"/>
          <p:cNvSpPr txBox="1"/>
          <p:nvPr/>
        </p:nvSpPr>
        <p:spPr>
          <a:xfrm>
            <a:off x="1188720" y="2103120"/>
            <a:ext cx="5852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Books tickets, manages flights, and shows reports in one place.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8" name="Google Shape;58;p5"/>
          <p:cNvCxnSpPr/>
          <p:nvPr/>
        </p:nvCxnSpPr>
        <p:spPr>
          <a:xfrm>
            <a:off x="822960" y="2779776"/>
            <a:ext cx="201168" cy="0"/>
          </a:xfrm>
          <a:prstGeom prst="straightConnector1">
            <a:avLst/>
          </a:prstGeom>
          <a:noFill/>
          <a:ln cap="flat" cmpd="sng" w="19050">
            <a:solidFill>
              <a:srgbClr val="A9711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9" name="Google Shape;59;p5"/>
          <p:cNvSpPr txBox="1"/>
          <p:nvPr/>
        </p:nvSpPr>
        <p:spPr>
          <a:xfrm>
            <a:off x="1188720" y="2670048"/>
            <a:ext cx="5852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Updates seat numbers right away after every booking or cancel.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0" name="Google Shape;60;p5"/>
          <p:cNvCxnSpPr/>
          <p:nvPr/>
        </p:nvCxnSpPr>
        <p:spPr>
          <a:xfrm>
            <a:off x="822960" y="3346704"/>
            <a:ext cx="201168" cy="0"/>
          </a:xfrm>
          <a:prstGeom prst="straightConnector1">
            <a:avLst/>
          </a:prstGeom>
          <a:noFill/>
          <a:ln cap="flat" cmpd="sng" w="19050">
            <a:solidFill>
              <a:srgbClr val="A9711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1" name="Google Shape;61;p5"/>
          <p:cNvSpPr txBox="1"/>
          <p:nvPr/>
        </p:nvSpPr>
        <p:spPr>
          <a:xfrm>
            <a:off x="1188720" y="3236976"/>
            <a:ext cx="5852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Shows flight delays and busy routes on a simple screen.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2" name="Google Shape;62;p5"/>
          <p:cNvCxnSpPr/>
          <p:nvPr/>
        </p:nvCxnSpPr>
        <p:spPr>
          <a:xfrm>
            <a:off x="822960" y="3913632"/>
            <a:ext cx="201168" cy="0"/>
          </a:xfrm>
          <a:prstGeom prst="straightConnector1">
            <a:avLst/>
          </a:prstGeom>
          <a:noFill/>
          <a:ln cap="flat" cmpd="sng" w="19050">
            <a:solidFill>
              <a:srgbClr val="A9711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" name="Google Shape;63;p5"/>
          <p:cNvSpPr txBox="1"/>
          <p:nvPr/>
        </p:nvSpPr>
        <p:spPr>
          <a:xfrm>
            <a:off x="1188720" y="3803904"/>
            <a:ext cx="5852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Removes paper records and cuts down booking mistakes.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4" name="Google Shape;64;p5"/>
          <p:cNvCxnSpPr/>
          <p:nvPr/>
        </p:nvCxnSpPr>
        <p:spPr>
          <a:xfrm>
            <a:off x="822960" y="4480560"/>
            <a:ext cx="201168" cy="0"/>
          </a:xfrm>
          <a:prstGeom prst="straightConnector1">
            <a:avLst/>
          </a:prstGeom>
          <a:noFill/>
          <a:ln cap="flat" cmpd="sng" w="19050">
            <a:solidFill>
              <a:srgbClr val="A9711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5" name="Google Shape;65;p5"/>
          <p:cNvSpPr txBox="1"/>
          <p:nvPr/>
        </p:nvSpPr>
        <p:spPr>
          <a:xfrm>
            <a:off x="1188720" y="4370832"/>
            <a:ext cx="5852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Built on simple, reliable database rules for safe data storage.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6" name="Google Shape;66;p5"/>
          <p:cNvCxnSpPr/>
          <p:nvPr/>
        </p:nvCxnSpPr>
        <p:spPr>
          <a:xfrm>
            <a:off x="7406640" y="2011680"/>
            <a:ext cx="0" cy="3566160"/>
          </a:xfrm>
          <a:prstGeom prst="straightConnector1">
            <a:avLst/>
          </a:prstGeom>
          <a:noFill/>
          <a:ln cap="flat" cmpd="sng" w="12700">
            <a:solidFill>
              <a:srgbClr val="E3E6E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7" name="Google Shape;67;p5"/>
          <p:cNvSpPr txBox="1"/>
          <p:nvPr/>
        </p:nvSpPr>
        <p:spPr>
          <a:xfrm>
            <a:off x="7772400" y="2103120"/>
            <a:ext cx="3657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3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6233F"/>
                </a:solidFill>
                <a:latin typeface="Cambria"/>
                <a:ea typeface="Cambria"/>
                <a:cs typeface="Cambria"/>
                <a:sym typeface="Cambria"/>
              </a:rPr>
              <a:t>1,284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 txBox="1"/>
          <p:nvPr/>
        </p:nvSpPr>
        <p:spPr>
          <a:xfrm>
            <a:off x="7772400" y="2670048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Bookings recorded per day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 txBox="1"/>
          <p:nvPr/>
        </p:nvSpPr>
        <p:spPr>
          <a:xfrm>
            <a:off x="7772400" y="3246120"/>
            <a:ext cx="3657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3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6233F"/>
                </a:solidFill>
                <a:latin typeface="Cambria"/>
                <a:ea typeface="Cambria"/>
                <a:cs typeface="Cambria"/>
                <a:sym typeface="Cambria"/>
              </a:rPr>
              <a:t>94%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 txBox="1"/>
          <p:nvPr/>
        </p:nvSpPr>
        <p:spPr>
          <a:xfrm>
            <a:off x="7772400" y="3813048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Flights that run on time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 txBox="1"/>
          <p:nvPr/>
        </p:nvSpPr>
        <p:spPr>
          <a:xfrm>
            <a:off x="7772400" y="4389120"/>
            <a:ext cx="3657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3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6233F"/>
                </a:solidFill>
                <a:latin typeface="Cambria"/>
                <a:ea typeface="Cambria"/>
                <a:cs typeface="Cambria"/>
                <a:sym typeface="Cambria"/>
              </a:rPr>
              <a:t>312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 txBox="1"/>
          <p:nvPr/>
        </p:nvSpPr>
        <p:spPr>
          <a:xfrm>
            <a:off x="7772400" y="4956048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Seats tracked live per flight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4" name="Google Shape;74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22669" y="-684081"/>
            <a:ext cx="2384875" cy="2384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6"/>
          <p:cNvSpPr txBox="1"/>
          <p:nvPr/>
        </p:nvSpPr>
        <p:spPr>
          <a:xfrm>
            <a:off x="822960" y="54864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711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A9711F"/>
                </a:solidFill>
                <a:latin typeface="Calibri"/>
                <a:ea typeface="Calibri"/>
                <a:cs typeface="Calibri"/>
                <a:sym typeface="Calibri"/>
              </a:rPr>
              <a:t>CORE FEATURES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6"/>
          <p:cNvSpPr txBox="1"/>
          <p:nvPr/>
        </p:nvSpPr>
        <p:spPr>
          <a:xfrm>
            <a:off x="822960" y="914400"/>
            <a:ext cx="10515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3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6233F"/>
                </a:solidFill>
                <a:latin typeface="Cambria"/>
                <a:ea typeface="Cambria"/>
                <a:cs typeface="Cambria"/>
                <a:sym typeface="Cambria"/>
              </a:rPr>
              <a:t>What the system does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2" name="Google Shape;82;p6"/>
          <p:cNvCxnSpPr/>
          <p:nvPr/>
        </p:nvCxnSpPr>
        <p:spPr>
          <a:xfrm>
            <a:off x="6080760" y="1965960"/>
            <a:ext cx="0" cy="4023360"/>
          </a:xfrm>
          <a:prstGeom prst="straightConnector1">
            <a:avLst/>
          </a:prstGeom>
          <a:noFill/>
          <a:ln cap="flat" cmpd="sng" w="12700">
            <a:solidFill>
              <a:srgbClr val="E3E6E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3" name="Google Shape;83;p6"/>
          <p:cNvSpPr txBox="1"/>
          <p:nvPr/>
        </p:nvSpPr>
        <p:spPr>
          <a:xfrm>
            <a:off x="822960" y="1965960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711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A9711F"/>
                </a:solidFill>
                <a:latin typeface="Calibri"/>
                <a:ea typeface="Calibri"/>
                <a:cs typeface="Calibri"/>
                <a:sym typeface="Calibri"/>
              </a:rPr>
              <a:t>Booking Management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6"/>
          <p:cNvSpPr txBox="1"/>
          <p:nvPr/>
        </p:nvSpPr>
        <p:spPr>
          <a:xfrm>
            <a:off x="822960" y="2514600"/>
            <a:ext cx="4846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—  Search flights by date, place, and price.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6"/>
          <p:cNvSpPr txBox="1"/>
          <p:nvPr/>
        </p:nvSpPr>
        <p:spPr>
          <a:xfrm>
            <a:off x="822960" y="3172968"/>
            <a:ext cx="4846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—  Book, change, or cancel tickets in a few clicks.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6"/>
          <p:cNvSpPr txBox="1"/>
          <p:nvPr/>
        </p:nvSpPr>
        <p:spPr>
          <a:xfrm>
            <a:off x="822960" y="3831336"/>
            <a:ext cx="4846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—  Seat count updates the moment a ticket is booked.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6"/>
          <p:cNvSpPr txBox="1"/>
          <p:nvPr/>
        </p:nvSpPr>
        <p:spPr>
          <a:xfrm>
            <a:off x="822960" y="4489704"/>
            <a:ext cx="4846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—  Sends booking details straight to the passenger.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 txBox="1"/>
          <p:nvPr/>
        </p:nvSpPr>
        <p:spPr>
          <a:xfrm>
            <a:off x="6400800" y="1965960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711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A9711F"/>
                </a:solidFill>
                <a:latin typeface="Calibri"/>
                <a:ea typeface="Calibri"/>
                <a:cs typeface="Calibri"/>
                <a:sym typeface="Calibri"/>
              </a:rPr>
              <a:t>Live Analytics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 txBox="1"/>
          <p:nvPr/>
        </p:nvSpPr>
        <p:spPr>
          <a:xfrm>
            <a:off x="6400800" y="2514600"/>
            <a:ext cx="4846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—  Shows how many tickets are booked each day.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 txBox="1"/>
          <p:nvPr/>
        </p:nvSpPr>
        <p:spPr>
          <a:xfrm>
            <a:off x="6400800" y="3172968"/>
            <a:ext cx="4846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—  Tracks flight delays and the busiest routes.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 txBox="1"/>
          <p:nvPr/>
        </p:nvSpPr>
        <p:spPr>
          <a:xfrm>
            <a:off x="6400800" y="3831336"/>
            <a:ext cx="4846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—  Gives quick, easy reports for airline staff.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6"/>
          <p:cNvSpPr txBox="1"/>
          <p:nvPr/>
        </p:nvSpPr>
        <p:spPr>
          <a:xfrm>
            <a:off x="6400800" y="4489704"/>
            <a:ext cx="4846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—  Helps airports plan gates and staff better.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6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4" name="Google Shape;94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93769" y="-684081"/>
            <a:ext cx="2384875" cy="2384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"/>
          <p:cNvSpPr txBox="1"/>
          <p:nvPr/>
        </p:nvSpPr>
        <p:spPr>
          <a:xfrm>
            <a:off x="822960" y="54864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711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A9711F"/>
                </a:solidFill>
                <a:latin typeface="Calibri"/>
                <a:ea typeface="Calibri"/>
                <a:cs typeface="Calibri"/>
                <a:sym typeface="Calibri"/>
              </a:rPr>
              <a:t>TECHNOLOGY USED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7"/>
          <p:cNvSpPr txBox="1"/>
          <p:nvPr/>
        </p:nvSpPr>
        <p:spPr>
          <a:xfrm>
            <a:off x="822960" y="914400"/>
            <a:ext cx="10515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3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6233F"/>
                </a:solidFill>
                <a:latin typeface="Cambria"/>
                <a:ea typeface="Cambria"/>
                <a:cs typeface="Cambria"/>
                <a:sym typeface="Cambria"/>
              </a:rPr>
              <a:t>Built with simple, proven tools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7"/>
          <p:cNvSpPr txBox="1"/>
          <p:nvPr/>
        </p:nvSpPr>
        <p:spPr>
          <a:xfrm>
            <a:off x="822960" y="2103120"/>
            <a:ext cx="3429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711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A9711F"/>
                </a:solidFill>
                <a:latin typeface="Calibri"/>
                <a:ea typeface="Calibri"/>
                <a:cs typeface="Calibri"/>
                <a:sym typeface="Calibri"/>
              </a:rPr>
              <a:t>Frontend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7"/>
          <p:cNvSpPr txBox="1"/>
          <p:nvPr/>
        </p:nvSpPr>
        <p:spPr>
          <a:xfrm>
            <a:off x="822960" y="2651760"/>
            <a:ext cx="3429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HTML, CSS, JS for the screens.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7"/>
          <p:cNvSpPr txBox="1"/>
          <p:nvPr/>
        </p:nvSpPr>
        <p:spPr>
          <a:xfrm>
            <a:off x="822960" y="3429000"/>
            <a:ext cx="3429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Bootstrap for a clean, simple look.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7"/>
          <p:cNvSpPr txBox="1"/>
          <p:nvPr/>
        </p:nvSpPr>
        <p:spPr>
          <a:xfrm>
            <a:off x="822960" y="4206240"/>
            <a:ext cx="3429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Works on phone and computer.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6" name="Google Shape;106;p7"/>
          <p:cNvCxnSpPr/>
          <p:nvPr/>
        </p:nvCxnSpPr>
        <p:spPr>
          <a:xfrm>
            <a:off x="4434840" y="2103120"/>
            <a:ext cx="0" cy="3657600"/>
          </a:xfrm>
          <a:prstGeom prst="straightConnector1">
            <a:avLst/>
          </a:prstGeom>
          <a:noFill/>
          <a:ln cap="flat" cmpd="sng" w="12700">
            <a:solidFill>
              <a:srgbClr val="E3E6E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7" name="Google Shape;107;p7"/>
          <p:cNvSpPr txBox="1"/>
          <p:nvPr/>
        </p:nvSpPr>
        <p:spPr>
          <a:xfrm>
            <a:off x="4617720" y="2103120"/>
            <a:ext cx="3429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711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A9711F"/>
                </a:solidFill>
                <a:latin typeface="Calibri"/>
                <a:ea typeface="Calibri"/>
                <a:cs typeface="Calibri"/>
                <a:sym typeface="Calibri"/>
              </a:rPr>
              <a:t>Backend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7"/>
          <p:cNvSpPr txBox="1"/>
          <p:nvPr/>
        </p:nvSpPr>
        <p:spPr>
          <a:xfrm>
            <a:off x="4617720" y="2651760"/>
            <a:ext cx="3429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Python runs the main logic.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7"/>
          <p:cNvSpPr txBox="1"/>
          <p:nvPr/>
        </p:nvSpPr>
        <p:spPr>
          <a:xfrm>
            <a:off x="4617720" y="3429000"/>
            <a:ext cx="3429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Flask handles requests from the site.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7"/>
          <p:cNvSpPr txBox="1"/>
          <p:nvPr/>
        </p:nvSpPr>
        <p:spPr>
          <a:xfrm>
            <a:off x="4617720" y="4206240"/>
            <a:ext cx="3429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Connects safely to the database.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1" name="Google Shape;111;p7"/>
          <p:cNvCxnSpPr/>
          <p:nvPr/>
        </p:nvCxnSpPr>
        <p:spPr>
          <a:xfrm>
            <a:off x="8229600" y="2103120"/>
            <a:ext cx="0" cy="3657600"/>
          </a:xfrm>
          <a:prstGeom prst="straightConnector1">
            <a:avLst/>
          </a:prstGeom>
          <a:noFill/>
          <a:ln cap="flat" cmpd="sng" w="12700">
            <a:solidFill>
              <a:srgbClr val="E3E6E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2" name="Google Shape;112;p7"/>
          <p:cNvSpPr txBox="1"/>
          <p:nvPr/>
        </p:nvSpPr>
        <p:spPr>
          <a:xfrm>
            <a:off x="8412480" y="2103120"/>
            <a:ext cx="3429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711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A9711F"/>
                </a:solidFill>
                <a:latin typeface="Calibri"/>
                <a:ea typeface="Calibri"/>
                <a:cs typeface="Calibri"/>
                <a:sym typeface="Calibri"/>
              </a:rPr>
              <a:t>Database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7"/>
          <p:cNvSpPr txBox="1"/>
          <p:nvPr/>
        </p:nvSpPr>
        <p:spPr>
          <a:xfrm>
            <a:off x="8412480" y="2651760"/>
            <a:ext cx="3429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MySQL stores flights and bookings.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7"/>
          <p:cNvSpPr txBox="1"/>
          <p:nvPr/>
        </p:nvSpPr>
        <p:spPr>
          <a:xfrm>
            <a:off x="8412480" y="3429000"/>
            <a:ext cx="3429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Workbench for simple table design.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 txBox="1"/>
          <p:nvPr/>
        </p:nvSpPr>
        <p:spPr>
          <a:xfrm>
            <a:off x="8412480" y="4206240"/>
            <a:ext cx="3429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Handles reports and searches.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7" name="Google Shape;117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22669" y="-684081"/>
            <a:ext cx="2384875" cy="2384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"/>
          <p:cNvSpPr txBox="1"/>
          <p:nvPr/>
        </p:nvSpPr>
        <p:spPr>
          <a:xfrm>
            <a:off x="822960" y="54864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711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A9711F"/>
                </a:solidFill>
                <a:latin typeface="Calibri"/>
                <a:ea typeface="Calibri"/>
                <a:cs typeface="Calibri"/>
                <a:sym typeface="Calibri"/>
              </a:rPr>
              <a:t>DATABASE DESIGN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8"/>
          <p:cNvSpPr txBox="1"/>
          <p:nvPr/>
        </p:nvSpPr>
        <p:spPr>
          <a:xfrm>
            <a:off x="822960" y="914400"/>
            <a:ext cx="10515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3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6233F"/>
                </a:solidFill>
                <a:latin typeface="Cambria"/>
                <a:ea typeface="Cambria"/>
                <a:cs typeface="Cambria"/>
                <a:sym typeface="Cambria"/>
              </a:rPr>
              <a:t>How the data connects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8"/>
          <p:cNvSpPr txBox="1"/>
          <p:nvPr/>
        </p:nvSpPr>
        <p:spPr>
          <a:xfrm>
            <a:off x="822960" y="2148840"/>
            <a:ext cx="51206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3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6233F"/>
                </a:solidFill>
                <a:latin typeface="Calibri"/>
                <a:ea typeface="Calibri"/>
                <a:cs typeface="Calibri"/>
                <a:sym typeface="Calibri"/>
              </a:rPr>
              <a:t>Linked tables  </a:t>
            </a:r>
            <a:r>
              <a:rPr b="0" i="0" lang="en-US" sz="13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Flights, Passengers, Bookings, and Airports are joined with keys.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8"/>
          <p:cNvSpPr txBox="1"/>
          <p:nvPr/>
        </p:nvSpPr>
        <p:spPr>
          <a:xfrm>
            <a:off x="822960" y="3017520"/>
            <a:ext cx="51206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3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6233F"/>
                </a:solidFill>
                <a:latin typeface="Calibri"/>
                <a:ea typeface="Calibri"/>
                <a:cs typeface="Calibri"/>
                <a:sym typeface="Calibri"/>
              </a:rPr>
              <a:t>Basic actions  </a:t>
            </a:r>
            <a:r>
              <a:rPr b="0" i="0" lang="en-US" sz="13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Simple steps to add, update, delete, or search a booking.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8"/>
          <p:cNvSpPr txBox="1"/>
          <p:nvPr/>
        </p:nvSpPr>
        <p:spPr>
          <a:xfrm>
            <a:off x="822960" y="3886200"/>
            <a:ext cx="51206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3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6233F"/>
                </a:solidFill>
                <a:latin typeface="Calibri"/>
                <a:ea typeface="Calibri"/>
                <a:cs typeface="Calibri"/>
                <a:sym typeface="Calibri"/>
              </a:rPr>
              <a:t>Smart reports  </a:t>
            </a:r>
            <a:r>
              <a:rPr b="0" i="0" lang="en-US" sz="13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Joins and totals show busiest routes and daily booking counts.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8"/>
          <p:cNvSpPr txBox="1"/>
          <p:nvPr/>
        </p:nvSpPr>
        <p:spPr>
          <a:xfrm>
            <a:off x="822960" y="4754880"/>
            <a:ext cx="51206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3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6233F"/>
                </a:solidFill>
                <a:latin typeface="Calibri"/>
                <a:ea typeface="Calibri"/>
                <a:cs typeface="Calibri"/>
                <a:sym typeface="Calibri"/>
              </a:rPr>
              <a:t>Fast and safe  </a:t>
            </a:r>
            <a:r>
              <a:rPr b="0" i="0" lang="en-US" sz="13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Views and saved steps keep reports quick and data protected.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9" name="Google Shape;129;p8"/>
          <p:cNvCxnSpPr/>
          <p:nvPr/>
        </p:nvCxnSpPr>
        <p:spPr>
          <a:xfrm>
            <a:off x="7452360" y="2400300"/>
            <a:ext cx="1234440" cy="1371600"/>
          </a:xfrm>
          <a:prstGeom prst="straightConnector1">
            <a:avLst/>
          </a:prstGeom>
          <a:noFill/>
          <a:ln cap="flat" cmpd="sng" w="19050">
            <a:solidFill>
              <a:srgbClr val="E3E6E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0" name="Google Shape;130;p8"/>
          <p:cNvCxnSpPr/>
          <p:nvPr/>
        </p:nvCxnSpPr>
        <p:spPr>
          <a:xfrm flipH="1">
            <a:off x="8686800" y="2400300"/>
            <a:ext cx="1234440" cy="1371600"/>
          </a:xfrm>
          <a:prstGeom prst="straightConnector1">
            <a:avLst/>
          </a:prstGeom>
          <a:noFill/>
          <a:ln cap="flat" cmpd="sng" w="19050">
            <a:solidFill>
              <a:srgbClr val="E3E6E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1" name="Google Shape;131;p8"/>
          <p:cNvCxnSpPr/>
          <p:nvPr/>
        </p:nvCxnSpPr>
        <p:spPr>
          <a:xfrm>
            <a:off x="8686800" y="3771900"/>
            <a:ext cx="9144" cy="1371600"/>
          </a:xfrm>
          <a:prstGeom prst="straightConnector1">
            <a:avLst/>
          </a:prstGeom>
          <a:noFill/>
          <a:ln cap="flat" cmpd="sng" w="19050">
            <a:solidFill>
              <a:srgbClr val="E3E6E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2" name="Google Shape;132;p8"/>
          <p:cNvSpPr/>
          <p:nvPr/>
        </p:nvSpPr>
        <p:spPr>
          <a:xfrm>
            <a:off x="6492240" y="2103120"/>
            <a:ext cx="1920240" cy="594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A971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8"/>
          <p:cNvSpPr txBox="1"/>
          <p:nvPr/>
        </p:nvSpPr>
        <p:spPr>
          <a:xfrm>
            <a:off x="6492240" y="1994535"/>
            <a:ext cx="1920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233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6233F"/>
                </a:solidFill>
                <a:latin typeface="Calibri"/>
                <a:ea typeface="Calibri"/>
                <a:cs typeface="Calibri"/>
                <a:sym typeface="Calibri"/>
              </a:rPr>
              <a:t>Airports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8"/>
          <p:cNvSpPr/>
          <p:nvPr/>
        </p:nvSpPr>
        <p:spPr>
          <a:xfrm>
            <a:off x="8961120" y="2103120"/>
            <a:ext cx="1920240" cy="594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A971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8"/>
          <p:cNvSpPr txBox="1"/>
          <p:nvPr/>
        </p:nvSpPr>
        <p:spPr>
          <a:xfrm>
            <a:off x="8961120" y="2103120"/>
            <a:ext cx="1920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233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6233F"/>
                </a:solidFill>
                <a:latin typeface="Calibri"/>
                <a:ea typeface="Calibri"/>
                <a:cs typeface="Calibri"/>
                <a:sym typeface="Calibri"/>
              </a:rPr>
              <a:t>Flights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8"/>
          <p:cNvSpPr/>
          <p:nvPr/>
        </p:nvSpPr>
        <p:spPr>
          <a:xfrm>
            <a:off x="7726680" y="3474720"/>
            <a:ext cx="1920240" cy="594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A971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8"/>
          <p:cNvSpPr txBox="1"/>
          <p:nvPr/>
        </p:nvSpPr>
        <p:spPr>
          <a:xfrm>
            <a:off x="7726680" y="3474720"/>
            <a:ext cx="1920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233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6233F"/>
                </a:solidFill>
                <a:latin typeface="Calibri"/>
                <a:ea typeface="Calibri"/>
                <a:cs typeface="Calibri"/>
                <a:sym typeface="Calibri"/>
              </a:rPr>
              <a:t>Bookings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8"/>
          <p:cNvSpPr/>
          <p:nvPr/>
        </p:nvSpPr>
        <p:spPr>
          <a:xfrm>
            <a:off x="7726680" y="4846320"/>
            <a:ext cx="1920240" cy="594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A971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8"/>
          <p:cNvSpPr txBox="1"/>
          <p:nvPr/>
        </p:nvSpPr>
        <p:spPr>
          <a:xfrm>
            <a:off x="7726680" y="4846320"/>
            <a:ext cx="1920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233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6233F"/>
                </a:solidFill>
                <a:latin typeface="Calibri"/>
                <a:ea typeface="Calibri"/>
                <a:cs typeface="Calibri"/>
                <a:sym typeface="Calibri"/>
              </a:rPr>
              <a:t>Passengers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8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1" name="Google Shape;141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22669" y="-684081"/>
            <a:ext cx="2384875" cy="2384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9"/>
          <p:cNvSpPr txBox="1"/>
          <p:nvPr/>
        </p:nvSpPr>
        <p:spPr>
          <a:xfrm>
            <a:off x="822960" y="54864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711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A9711F"/>
                </a:solidFill>
                <a:latin typeface="Calibri"/>
                <a:ea typeface="Calibri"/>
                <a:cs typeface="Calibri"/>
                <a:sym typeface="Calibri"/>
              </a:rPr>
              <a:t>EXPECTED OUTCOMES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9"/>
          <p:cNvSpPr txBox="1"/>
          <p:nvPr/>
        </p:nvSpPr>
        <p:spPr>
          <a:xfrm>
            <a:off x="822960" y="914400"/>
            <a:ext cx="10515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3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6233F"/>
                </a:solidFill>
                <a:latin typeface="Cambria"/>
                <a:ea typeface="Cambria"/>
                <a:cs typeface="Cambria"/>
                <a:sym typeface="Cambria"/>
              </a:rPr>
              <a:t>What this system delivers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9"/>
          <p:cNvSpPr txBox="1"/>
          <p:nvPr/>
        </p:nvSpPr>
        <p:spPr>
          <a:xfrm>
            <a:off x="822960" y="2286000"/>
            <a:ext cx="640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711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A9711F"/>
                </a:solidFill>
                <a:latin typeface="Cambria"/>
                <a:ea typeface="Cambria"/>
                <a:cs typeface="Cambria"/>
                <a:sym typeface="Cambria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9"/>
          <p:cNvSpPr txBox="1"/>
          <p:nvPr/>
        </p:nvSpPr>
        <p:spPr>
          <a:xfrm>
            <a:off x="1463040" y="2286000"/>
            <a:ext cx="960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3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6233F"/>
                </a:solidFill>
                <a:latin typeface="Calibri"/>
                <a:ea typeface="Calibri"/>
                <a:cs typeface="Calibri"/>
                <a:sym typeface="Calibri"/>
              </a:rPr>
              <a:t>Faster booking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9"/>
          <p:cNvSpPr txBox="1"/>
          <p:nvPr/>
        </p:nvSpPr>
        <p:spPr>
          <a:xfrm>
            <a:off x="1463040" y="2651760"/>
            <a:ext cx="9601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Passengers can book a ticket in just a few clicks, with no long waits.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9"/>
          <p:cNvSpPr txBox="1"/>
          <p:nvPr/>
        </p:nvSpPr>
        <p:spPr>
          <a:xfrm>
            <a:off x="822960" y="3520440"/>
            <a:ext cx="640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711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A9711F"/>
                </a:solidFill>
                <a:latin typeface="Cambria"/>
                <a:ea typeface="Cambria"/>
                <a:cs typeface="Cambria"/>
                <a:sym typeface="Cambria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9"/>
          <p:cNvSpPr txBox="1"/>
          <p:nvPr/>
        </p:nvSpPr>
        <p:spPr>
          <a:xfrm>
            <a:off x="1463040" y="3520440"/>
            <a:ext cx="960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3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6233F"/>
                </a:solidFill>
                <a:latin typeface="Calibri"/>
                <a:ea typeface="Calibri"/>
                <a:cs typeface="Calibri"/>
                <a:sym typeface="Calibri"/>
              </a:rPr>
              <a:t>Fewer mistakes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9"/>
          <p:cNvSpPr txBox="1"/>
          <p:nvPr/>
        </p:nvSpPr>
        <p:spPr>
          <a:xfrm>
            <a:off x="1463040" y="3886200"/>
            <a:ext cx="9601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One shared system removes double bookings and wrong seat data.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9"/>
          <p:cNvSpPr txBox="1"/>
          <p:nvPr/>
        </p:nvSpPr>
        <p:spPr>
          <a:xfrm>
            <a:off x="822960" y="4754880"/>
            <a:ext cx="640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711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A9711F"/>
                </a:solidFill>
                <a:latin typeface="Cambria"/>
                <a:ea typeface="Cambria"/>
                <a:cs typeface="Cambria"/>
                <a:sym typeface="Cambria"/>
              </a:rPr>
              <a:t>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9"/>
          <p:cNvSpPr txBox="1"/>
          <p:nvPr/>
        </p:nvSpPr>
        <p:spPr>
          <a:xfrm>
            <a:off x="1463040" y="4754880"/>
            <a:ext cx="960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3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6233F"/>
                </a:solidFill>
                <a:latin typeface="Calibri"/>
                <a:ea typeface="Calibri"/>
                <a:cs typeface="Calibri"/>
                <a:sym typeface="Calibri"/>
              </a:rPr>
              <a:t>Better planning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9"/>
          <p:cNvSpPr txBox="1"/>
          <p:nvPr/>
        </p:nvSpPr>
        <p:spPr>
          <a:xfrm>
            <a:off x="1463040" y="5120640"/>
            <a:ext cx="9601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Airline and airport teams see live reports to plan flights and staff.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9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9" name="Google Shape;159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22669" y="-684081"/>
            <a:ext cx="2384875" cy="2384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5" name="Google Shape;165;p10"/>
          <p:cNvCxnSpPr/>
          <p:nvPr/>
        </p:nvCxnSpPr>
        <p:spPr>
          <a:xfrm>
            <a:off x="5358384" y="3063240"/>
            <a:ext cx="822960" cy="0"/>
          </a:xfrm>
          <a:prstGeom prst="straightConnector1">
            <a:avLst/>
          </a:prstGeom>
          <a:noFill/>
          <a:ln cap="flat" cmpd="sng" w="25400">
            <a:solidFill>
              <a:srgbClr val="A9711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6" name="Google Shape;166;p10"/>
          <p:cNvSpPr txBox="1"/>
          <p:nvPr/>
        </p:nvSpPr>
        <p:spPr>
          <a:xfrm>
            <a:off x="0" y="3200400"/>
            <a:ext cx="12188952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233F"/>
              </a:buClr>
              <a:buSzPts val="3800"/>
              <a:buFont typeface="Cambria"/>
              <a:buNone/>
            </a:pPr>
            <a:r>
              <a:rPr b="1" i="0" lang="en-US" sz="3800" u="none" cap="none" strike="noStrike">
                <a:solidFill>
                  <a:srgbClr val="16233F"/>
                </a:solidFill>
                <a:latin typeface="Cambria"/>
                <a:ea typeface="Cambria"/>
                <a:cs typeface="Cambria"/>
                <a:sym typeface="Cambria"/>
              </a:rPr>
              <a:t>Thank You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0"/>
          <p:cNvSpPr txBox="1"/>
          <p:nvPr/>
        </p:nvSpPr>
        <p:spPr>
          <a:xfrm>
            <a:off x="0" y="4023360"/>
            <a:ext cx="121889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Flight Booking Management &amp; Analytics Portal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8" name="Google Shape;168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22669" y="-684081"/>
            <a:ext cx="2384875" cy="2384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